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[0:00–1:00]
REPLACE THE QR PLACEHOLDER before you present — generate it from the cloudflared URL and
paste it over the white box.
Open by getting them joining. Do not explain the product yet.
"Before we start — everyone please take out your phone and scan that code. It takes twenty
seconds. Tap 'I'm a student', class code ROOM6, and type your first name. Do it now, and
I'll explain why in a moment."
WAIT. Actually wait. Watch the room, not the slides. Let them finish.
"Right. Every classroom has a child who is struggling quietly. This is a tool that helps a
teacher notice them — without a machine ever guessing how that child feels."
Then move on. Don't reveal what their check-in does yet — slide 4 is the payoff.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[1:00–2:30]
This slide is worth 20 points — Problem definition &amp; relevance. Judges want a real,
significant problem with an identified stakeholder. Name the stakeholder explicitly.
"Twenty-six students, one teacher, six hours a day. The stakeholder here is the classroom
teacher — and behind them, the child nobody has got to yet."
Take each card slowly:
 · Masking — kids who perform "fine" because it's easier than explaining
 · No words yet — neurodivergent kids who feel it clearly but can't name it on demand
 · Won't say it aloud — kids who'd never raise a hand in front of 25 classmates
ARTHUR: this is where your Skill Samurai experience earns credibility. One specific
sentence about working with this age group — not a story, one sentence.
Land the dark bar: "By the time a struggling child is obvious, they've usually been
struggling for weeks."
Then the line underneath: existing tools either ask a child to name a feeling in words, or
ask a teacher to watch 26 people at once. Both fail the same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[2:30–3:30]
Fast. This is orientation before the demo, not the demo itself.
"The child taps a face. Five options, twenty seconds. No password, no vocabulary — and no
metaphor to decode first."
Worth saying, because it came from judge feedback yesterday: "Our first version used a
weather scale. We were told a child shouldn't have to translate a feeling into weather
before they can answer — so we rebuilt it as faces. The bottom is a thumbs-down rather than
a crying face, because a crying face is a big thing for a child to claim about themselves,
and it's easy to avoid pressing."
That sentence shows you act on feedback. Judges notice.
Then the right-hand side: "The teacher gets the class at a glance plus soft signals — never
red alarms. Two separate sign-ins, because the teacher's screen holds 24 other children's
check-ins and a student device must never reach it."
Now hand over for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[3:30–6:00]  ·  THE BIG ONE
Technical Execution is 25 points and breaks ties. This is where you win it. Get off the
slides and onto the actual teacher screen.
BEFORE YOU START: turn on "Big screen" (top bar) so the back row can read it.
Beat 1 — their own faces
"Everyone who scanned that code is on this board right now. Those tiles marked 'new' are
you." Point at two or three by name. Let them react.
Beat 2 — the four signals
"These four were flagged before any of you arrived. Isla stopped checking in four days ago.
Cody dropped two steps below his own normal. Aroha has drifted for three days. Maia is low
every Monday. Four different rules, computed from thirty days of data."
Beat 3 — do it live
"Someone check in again now — pick the thumbs-down." Wait for the board to update.
"That's not pre-recorded. The rules just re-ran."
IF THE NETWORK DIES: switch to the offline tab and say so plainly — "we've lost the tunnel,
here's the same thing running locally." Do not apologise twice and do not fiddle. The
offline build has the identical class and all four signals.
Leave time. Do not rush this to protect later slides — later slides matter less than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[6:00–6:45]
Pause before you speak. Let the question sit on screen.
"You're about to ask me — how do you know the child is sad?"
Beat.
"We don't. And Sunny says so, on screen, every single time."
Then be honest about where this came from: "A judge asked us exactly this yesterday. The
answer changed our architecture, and it's now the strongest thing about the product."
Read the right-hand panel out loud — it's the whole claim: a number a child chose for
themselves has moved away from their own normal. Nothing about feelings. Nothing about why.
Do not rush off this slide. It sets up the next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[6:45–7:45]
Your strongest architectural slide. Worth real time.
"Detection is arithmetic. The AI only writes the wording. We never mix the two."
"Step three receives a rule name and five numbers. No child's name, no reason tags, no
history. It returns one sentence for a teacher to read."
Then the gold bar, slowly: "Remove the AI entirely and Sunny flags exactly the same
children."
BE HONEST IF ASKED — and expect it: in this prototype step 3 is a written template, not a
live model call. Say so. It is in our AI declaration. The architecture is built for a model
there, and the point stands either way: the model never decides who is flagged.
That honesty is worth more than the claim. Do not bluff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[7:45–8:30]
Don't read all four aloud — gesture at them. The point is that they FIT ON ONE SLIDE.
"Four rules. That's all of them. A parent could check this maths by hand."
Then the two boxes, which are the ones that matter:
LEFT — "Every rule compares a child only to themselves. A child who checks in 'okay' most
days is never flagged for it. That's their normal, and normal is not a problem. This is
deliberate — it stops quiet and neurodivergent kids being pathologised for their baseline."
RIGHT — "R4 is the one we're proudest of. A mood scale cannot express 'I have stopped
answering.' A child who quietly disengages produces no low scores at all — so without R4
they're invisible at exactly the point you most want to see them."
If you only get one extra sentence in Q&amp;A, use the left-hand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[8:30–9:15]
This is the most human slide in the deck. Slow down.
"Every child can have a support plan — what helps, what makes it worse, who they'll talk
to — written by a parent or a teacher. It appears above the AI's suggestion in the panel.
That ordering is deliberate."
Then the Maia example, which is the best thing we have:
"Rule R3 told us every one of Maia's last six Mondays is low. It has no idea why. But her
mum wrote this months ago — swimming is Monday first period, and it's the changing rooms
she can't stand, not the swimming."
Beat.
"The machine found the pattern. A human already knew the reason. Neither is much use
without the other."
Right-hand column, quickly — it's the list a principal asks for before signing anything.
Don't read all four; say "never a diagnosis, human in the loop, escalation is manual and
previewed, and one tap of data that's deleted after thirty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[9:15–9:45]
Worth 20 points — Business impact &amp; feasibility. Judges want to know it could really exist.
"This sells into wellbeing and pastoral budgets, not IT. Per-classroom licence, so a school
can start with one class."
The wedge line matters most: "We're the option a school can actually defend to parents,
because the detection is auditable arithmetic rather than a model's opinion."
Roadmap — be honest about what's built: "Level one is running, you just used it. Level two
is real storage and a live model for the wording, in one school for one term. Level three
is compliance and escalation routing."
Then: "Detection stays rule-based at every level. Scaling adds reach, never opacity."
Close with the sustainability line — early support costs a school far less than late
intervention, in staff time and in outcomes.
Keep pricing vague unless asked. If pressed: indicative, depends on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[9:45–10:00]  ·  STOP TALKING AFTER THIS
"Sunny didn't diagnose anyone. It did arithmetic on five numbers, showed its working, and
made sure a caring adult noticed."
Beat.
"That's the only kind of AI a school should ever point at a child."
Then STOP. Do not add anything. Let the silence do the work. You will be tempted to fill
it — don't.
═══════════════════════════════════════════
Q&amp;A — 5 MINUTES. Whoever knows the answer takes it; judges score whole-team contribution.
Q: How do you know the child is sad?
A: We don't, and we say so on screen. We detect that a self-reported number moved from that
   child's own baseline. Step 3 of every signal lists the innocent explanations.
Q: Is the AI real, or is it hardcoded?
A: The detection is real and you watched it run. The wording step is currently a written
   template, not a live model call — that's stated in our AI declaration. The architecture
   puts a model there, and either way the model never decides who is flagged.
Q: What about a kid who's always low?
A: Never flagged for their baseline. Only change counts. That's the whole design.
Q: What if the teacher disagrees?
A: They dismiss it. The signal clears and the dismissal is logged, so we can publish a real
   false-positive rate rather than guess at one.
Q: Privacy? Parents?
A: One tap. No free text, no camera, no microphone. Deleted after 30 days, never trains a
   model, never auto-notifies anyone. Escalation is always a human choice.
Q: Is this real data?
A: Entirely synthetic — no real child was involved. The rules are real and you just watched
   them run on your own check-ins.
Q: What would you do next?
A: One school, one term, and publish the false-positive rate honestly.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1.png"/><Relationship Id="rId7" Type="http://schemas.openxmlformats.org/officeDocument/2006/relationships/image" Target="../media/image-10-1.png"/><Relationship Id="rId8" Type="http://schemas.openxmlformats.org/officeDocument/2006/relationships/image" Target="../media/image-10-4.png"/><Relationship Id="rId9" Type="http://schemas.openxmlformats.org/officeDocument/2006/relationships/image" Target="../media/image-10-1.png"/><Relationship Id="rId10" Type="http://schemas.openxmlformats.org/officeDocument/2006/relationships/image" Target="../media/image-10-2.png"/><Relationship Id="rId11" Type="http://schemas.openxmlformats.org/officeDocument/2006/relationships/image" Target="../media/image-10-1.png"/><Relationship Id="rId12" Type="http://schemas.openxmlformats.org/officeDocument/2006/relationships/image" Target="../media/image-10-1.png"/><Relationship Id="rId13" Type="http://schemas.openxmlformats.org/officeDocument/2006/relationships/image" Target="../media/image-10-2.png"/><Relationship Id="rId14" Type="http://schemas.openxmlformats.org/officeDocument/2006/relationships/image" Target="../media/image-10-1.png"/><Relationship Id="rId15" Type="http://schemas.openxmlformats.org/officeDocument/2006/relationships/image" Target="../media/image-10-5.png"/><Relationship Id="rId16" Type="http://schemas.openxmlformats.org/officeDocument/2006/relationships/image" Target="../media/image-10-4.png"/><Relationship Id="rId17" Type="http://schemas.openxmlformats.org/officeDocument/2006/relationships/image" Target="../media/image-10-1.png"/><Relationship Id="rId18" Type="http://schemas.openxmlformats.org/officeDocument/2006/relationships/slideLayout" Target="../slideLayouts/slideLayout1.xml"/><Relationship Id="rId1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9098280" y="960120"/>
            <a:ext cx="2011680" cy="2011680"/>
          </a:xfrm>
          <a:prstGeom prst="ellipse">
            <a:avLst/>
          </a:prstGeom>
          <a:solidFill>
            <a:srgbClr val="FFC24A"/>
          </a:solidFill>
          <a:ln/>
          <a:effectLst>
            <a:outerShdw sx="100000" sy="100000" kx="0" ky="0" algn="bl" rotWithShape="0" blurRad="177800" dist="38100" dir="5400000">
              <a:srgbClr val="0B1220">
                <a:alpha val="16000"/>
              </a:srgbClr>
            </a:outerShdw>
          </a:effectLst>
        </p:spPr>
      </p:sp>
      <p:sp>
        <p:nvSpPr>
          <p:cNvPr id="3" name="Text 1"/>
          <p:cNvSpPr/>
          <p:nvPr/>
        </p:nvSpPr>
        <p:spPr>
          <a:xfrm>
            <a:off x="822960" y="1051560"/>
            <a:ext cx="7315200" cy="105156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Sunny</a:t>
            </a:r>
            <a:endParaRPr lang="en-US" sz="6000" dirty="0"/>
          </a:p>
        </p:txBody>
      </p:sp>
      <p:sp>
        <p:nvSpPr>
          <p:cNvPr id="4" name="Text 2"/>
          <p:cNvSpPr/>
          <p:nvPr/>
        </p:nvSpPr>
        <p:spPr>
          <a:xfrm>
            <a:off x="868680" y="2084832"/>
            <a:ext cx="7315200" cy="411480"/>
          </a:xfrm>
          <a:prstGeom prst="rect">
            <a:avLst/>
          </a:prstGeom>
          <a:noFill/>
          <a:ln/>
        </p:spPr>
        <p:txBody>
          <a:bodyPr wrap="square" lIns="0" tIns="0" rIns="0" bIns="0" rtlCol="0" anchor="ctr"/>
          <a:lstStyle/>
          <a:p>
            <a:pPr indent="0" marL="0">
              <a:buNone/>
            </a:pPr>
            <a:r>
              <a:rPr lang="en-US" sz="2100" dirty="0">
                <a:solidFill>
                  <a:srgbClr val="FFC24A"/>
                </a:solidFill>
                <a:latin typeface="Calibri" pitchFamily="34" charset="0"/>
                <a:ea typeface="Calibri" pitchFamily="34" charset="-122"/>
                <a:cs typeface="Calibri" pitchFamily="34" charset="-120"/>
              </a:rPr>
              <a:t>Classroom Mood Check-in</a:t>
            </a:r>
            <a:endParaRPr lang="en-US" sz="2100" dirty="0"/>
          </a:p>
        </p:txBody>
      </p:sp>
      <p:sp>
        <p:nvSpPr>
          <p:cNvPr id="5" name="Text 3"/>
          <p:cNvSpPr/>
          <p:nvPr/>
        </p:nvSpPr>
        <p:spPr>
          <a:xfrm>
            <a:off x="868680" y="2697480"/>
            <a:ext cx="6949440" cy="914400"/>
          </a:xfrm>
          <a:prstGeom prst="rect">
            <a:avLst/>
          </a:prstGeom>
          <a:noFill/>
          <a:ln/>
        </p:spPr>
        <p:txBody>
          <a:bodyPr wrap="square" lIns="0" tIns="0" rIns="0" bIns="0" rtlCol="0" anchor="ctr"/>
          <a:lstStyle/>
          <a:p>
            <a:pPr indent="0" marL="0">
              <a:lnSpc>
                <a:spcPts val="2500"/>
              </a:lnSpc>
              <a:buNone/>
            </a:pPr>
            <a:r>
              <a:rPr lang="en-US" sz="1500" dirty="0">
                <a:solidFill>
                  <a:srgbClr val="9FB3D0"/>
                </a:solidFill>
                <a:latin typeface="Calibri" pitchFamily="34" charset="0"/>
                <a:ea typeface="Calibri" pitchFamily="34" charset="-122"/>
                <a:cs typeface="Calibri" pitchFamily="34" charset="-120"/>
              </a:rPr>
              <a:t>The quiet kid gets noticed —</a:t>
            </a:r>
            <a:endParaRPr lang="en-US" sz="1500" dirty="0"/>
          </a:p>
          <a:p>
            <a:pPr indent="0" marL="0">
              <a:lnSpc>
                <a:spcPts val="2500"/>
              </a:lnSpc>
              <a:buNone/>
            </a:pPr>
            <a:r>
              <a:rPr lang="en-US" sz="1500" dirty="0">
                <a:solidFill>
                  <a:srgbClr val="9FB3D0"/>
                </a:solidFill>
                <a:latin typeface="Calibri" pitchFamily="34" charset="0"/>
                <a:ea typeface="Calibri" pitchFamily="34" charset="-122"/>
                <a:cs typeface="Calibri" pitchFamily="34" charset="-120"/>
              </a:rPr>
              <a:t>without a machine guessing how they feel.</a:t>
            </a:r>
            <a:endParaRPr lang="en-US" sz="1500" dirty="0"/>
          </a:p>
        </p:txBody>
      </p:sp>
      <p:sp>
        <p:nvSpPr>
          <p:cNvPr id="6" name="Shape 4"/>
          <p:cNvSpPr/>
          <p:nvPr/>
        </p:nvSpPr>
        <p:spPr>
          <a:xfrm>
            <a:off x="822960" y="3886200"/>
            <a:ext cx="10515600" cy="1691640"/>
          </a:xfrm>
          <a:prstGeom prst="roundRect">
            <a:avLst>
              <a:gd name="adj" fmla="val 6486"/>
            </a:avLst>
          </a:prstGeom>
          <a:solidFill>
            <a:srgbClr val="21304F"/>
          </a:solidFill>
          <a:ln/>
          <a:effectLst>
            <a:outerShdw sx="100000" sy="100000" kx="0" ky="0" algn="bl" rotWithShape="0" blurRad="177800" dist="38100" dir="5400000">
              <a:srgbClr val="0B1220">
                <a:alpha val="16000"/>
              </a:srgbClr>
            </a:outerShdw>
          </a:effectLst>
        </p:spPr>
      </p:sp>
      <p:sp>
        <p:nvSpPr>
          <p:cNvPr id="7" name="Text 5"/>
          <p:cNvSpPr/>
          <p:nvPr/>
        </p:nvSpPr>
        <p:spPr>
          <a:xfrm>
            <a:off x="1188720" y="4069080"/>
            <a:ext cx="6766560" cy="365760"/>
          </a:xfrm>
          <a:prstGeom prst="rect">
            <a:avLst/>
          </a:prstGeom>
          <a:noFill/>
          <a:ln/>
        </p:spPr>
        <p:txBody>
          <a:bodyPr wrap="square" lIns="0" tIns="0" rIns="0" bIns="0" rtlCol="0" anchor="ctr"/>
          <a:lstStyle/>
          <a:p>
            <a:pPr indent="0" marL="0">
              <a:buNone/>
            </a:pPr>
            <a:r>
              <a:rPr lang="en-US" sz="1900" b="1" dirty="0">
                <a:solidFill>
                  <a:srgbClr val="FFC24A"/>
                </a:solidFill>
                <a:latin typeface="Cambria" pitchFamily="34" charset="0"/>
                <a:ea typeface="Cambria" pitchFamily="34" charset="-122"/>
                <a:cs typeface="Cambria" pitchFamily="34" charset="-120"/>
              </a:rPr>
              <a:t>Join our classroom — right now, on your phone</a:t>
            </a:r>
            <a:endParaRPr lang="en-US" sz="1900" dirty="0"/>
          </a:p>
        </p:txBody>
      </p:sp>
      <p:sp>
        <p:nvSpPr>
          <p:cNvPr id="8" name="Text 6"/>
          <p:cNvSpPr/>
          <p:nvPr/>
        </p:nvSpPr>
        <p:spPr>
          <a:xfrm>
            <a:off x="1188720" y="4526280"/>
            <a:ext cx="6858000" cy="822960"/>
          </a:xfrm>
          <a:prstGeom prst="rect">
            <a:avLst/>
          </a:prstGeom>
          <a:noFill/>
          <a:ln/>
        </p:spPr>
        <p:txBody>
          <a:bodyPr wrap="square" lIns="0" tIns="0" rIns="0" bIns="0" rtlCol="0" anchor="ctr"/>
          <a:lstStyle/>
          <a:p>
            <a:pPr indent="0" marL="0">
              <a:lnSpc>
                <a:spcPts val="2200"/>
              </a:lnSpc>
              <a:buNone/>
            </a:pPr>
            <a:r>
              <a:rPr lang="en-US" sz="1350" dirty="0">
                <a:solidFill>
                  <a:srgbClr val="FFFFFF"/>
                </a:solidFill>
                <a:latin typeface="Calibri" pitchFamily="34" charset="0"/>
                <a:ea typeface="Calibri" pitchFamily="34" charset="-122"/>
                <a:cs typeface="Calibri" pitchFamily="34" charset="-120"/>
              </a:rPr>
              <a:t>1.  Scan the QR code    </a:t>
            </a:r>
            <a:pPr indent="0" marL="0">
              <a:lnSpc>
                <a:spcPts val="2200"/>
              </a:lnSpc>
              <a:buNone/>
            </a:pPr>
            <a:r>
              <a:rPr lang="en-US" sz="1350" dirty="0">
                <a:solidFill>
                  <a:srgbClr val="FFFFFF"/>
                </a:solidFill>
                <a:latin typeface="Calibri" pitchFamily="34" charset="0"/>
                <a:ea typeface="Calibri" pitchFamily="34" charset="-122"/>
                <a:cs typeface="Calibri" pitchFamily="34" charset="-120"/>
              </a:rPr>
              <a:t>2.  Tap “I'm a student”    </a:t>
            </a:r>
            <a:pPr indent="0" marL="0">
              <a:lnSpc>
                <a:spcPts val="2200"/>
              </a:lnSpc>
              <a:buNone/>
            </a:pPr>
            <a:r>
              <a:rPr lang="en-US" sz="1350" dirty="0">
                <a:solidFill>
                  <a:srgbClr val="FFFFFF"/>
                </a:solidFill>
                <a:latin typeface="Calibri" pitchFamily="34" charset="0"/>
                <a:ea typeface="Calibri" pitchFamily="34" charset="-122"/>
                <a:cs typeface="Calibri" pitchFamily="34" charset="-120"/>
              </a:rPr>
              <a:t>3.  Class code ROOM6    </a:t>
            </a:r>
            <a:pPr indent="0" marL="0">
              <a:lnSpc>
                <a:spcPts val="2200"/>
              </a:lnSpc>
              <a:buNone/>
            </a:pPr>
            <a:r>
              <a:rPr lang="en-US" sz="1350" dirty="0">
                <a:solidFill>
                  <a:srgbClr val="FFFFFF"/>
                </a:solidFill>
                <a:latin typeface="Calibri" pitchFamily="34" charset="0"/>
                <a:ea typeface="Calibri" pitchFamily="34" charset="-122"/>
                <a:cs typeface="Calibri" pitchFamily="34" charset="-120"/>
              </a:rPr>
              <a:t>4.  Type your first name</a:t>
            </a:r>
            <a:endParaRPr lang="en-US" sz="1350" dirty="0"/>
          </a:p>
        </p:txBody>
      </p:sp>
      <p:sp>
        <p:nvSpPr>
          <p:cNvPr id="9" name="Text 7"/>
          <p:cNvSpPr/>
          <p:nvPr/>
        </p:nvSpPr>
        <p:spPr>
          <a:xfrm>
            <a:off x="1188720" y="5138928"/>
            <a:ext cx="6858000" cy="320040"/>
          </a:xfrm>
          <a:prstGeom prst="rect">
            <a:avLst/>
          </a:prstGeom>
          <a:noFill/>
          <a:ln/>
        </p:spPr>
        <p:txBody>
          <a:bodyPr wrap="square" lIns="0" tIns="0" rIns="0" bIns="0" rtlCol="0" anchor="ctr"/>
          <a:lstStyle/>
          <a:p>
            <a:pPr indent="0" marL="0">
              <a:buNone/>
            </a:pPr>
            <a:r>
              <a:rPr lang="en-US" sz="1200" i="1" dirty="0">
                <a:solidFill>
                  <a:srgbClr val="8AA3C4"/>
                </a:solidFill>
                <a:latin typeface="Calibri" pitchFamily="34" charset="0"/>
                <a:ea typeface="Calibri" pitchFamily="34" charset="-122"/>
                <a:cs typeface="Calibri" pitchFamily="34" charset="-120"/>
              </a:rPr>
              <a:t>It takes twenty seconds. You'll see why in three minutes.</a:t>
            </a:r>
            <a:endParaRPr lang="en-US" sz="1200" dirty="0"/>
          </a:p>
        </p:txBody>
      </p:sp>
      <p:sp>
        <p:nvSpPr>
          <p:cNvPr id="10" name="Shape 8"/>
          <p:cNvSpPr/>
          <p:nvPr/>
        </p:nvSpPr>
        <p:spPr>
          <a:xfrm>
            <a:off x="8549640" y="4069080"/>
            <a:ext cx="1325880" cy="1325880"/>
          </a:xfrm>
          <a:prstGeom prst="roundRect">
            <a:avLst>
              <a:gd name="adj" fmla="val 5517"/>
            </a:avLst>
          </a:prstGeom>
          <a:solidFill>
            <a:srgbClr val="FFFFFF"/>
          </a:solidFill>
          <a:ln/>
        </p:spPr>
      </p:sp>
      <p:sp>
        <p:nvSpPr>
          <p:cNvPr id="11" name="Text 9"/>
          <p:cNvSpPr/>
          <p:nvPr/>
        </p:nvSpPr>
        <p:spPr>
          <a:xfrm>
            <a:off x="8549640" y="4069080"/>
            <a:ext cx="1325880" cy="1325880"/>
          </a:xfrm>
          <a:prstGeom prst="rect">
            <a:avLst/>
          </a:prstGeom>
          <a:noFill/>
          <a:ln/>
        </p:spPr>
        <p:txBody>
          <a:bodyPr wrap="square" lIns="0" tIns="0" rIns="0" bIns="0" rtlCol="0" anchor="ctr"/>
          <a:lstStyle/>
          <a:p>
            <a:pPr algn="ctr" indent="0" marL="0">
              <a:buNone/>
            </a:pPr>
            <a:r>
              <a:rPr lang="en-US" sz="1100" b="1" dirty="0">
                <a:solidFill>
                  <a:srgbClr val="6B7B92"/>
                </a:solidFill>
                <a:latin typeface="Calibri" pitchFamily="34" charset="0"/>
                <a:ea typeface="Calibri" pitchFamily="34" charset="-122"/>
                <a:cs typeface="Calibri" pitchFamily="34" charset="-120"/>
              </a:rPr>
              <a:t>QR</a:t>
            </a:r>
            <a:endParaRPr lang="en-US" sz="1100" dirty="0"/>
          </a:p>
        </p:txBody>
      </p:sp>
      <p:sp>
        <p:nvSpPr>
          <p:cNvPr id="12" name="Text 10"/>
          <p:cNvSpPr/>
          <p:nvPr/>
        </p:nvSpPr>
        <p:spPr>
          <a:xfrm>
            <a:off x="10012680" y="4297680"/>
            <a:ext cx="1371600" cy="822960"/>
          </a:xfrm>
          <a:prstGeom prst="rect">
            <a:avLst/>
          </a:prstGeom>
          <a:noFill/>
          <a:ln/>
        </p:spPr>
        <p:txBody>
          <a:bodyPr wrap="square" lIns="0" tIns="0" rIns="0" bIns="0" rtlCol="0" anchor="ctr"/>
          <a:lstStyle/>
          <a:p>
            <a:pPr indent="0" marL="0">
              <a:lnSpc>
                <a:spcPts val="1500"/>
              </a:lnSpc>
              <a:buNone/>
            </a:pPr>
            <a:r>
              <a:rPr lang="en-US" sz="1050" dirty="0">
                <a:solidFill>
                  <a:srgbClr val="8AA3C4"/>
                </a:solidFill>
                <a:latin typeface="Calibri" pitchFamily="34" charset="0"/>
                <a:ea typeface="Calibri" pitchFamily="34" charset="-122"/>
                <a:cs typeface="Calibri" pitchFamily="34" charset="-120"/>
              </a:rPr>
              <a:t>or type the short link</a:t>
            </a:r>
            <a:endParaRPr lang="en-US" sz="1050" dirty="0"/>
          </a:p>
          <a:p>
            <a:pPr indent="0" marL="0">
              <a:lnSpc>
                <a:spcPts val="1500"/>
              </a:lnSpc>
              <a:buNone/>
            </a:pPr>
            <a:r>
              <a:rPr lang="en-US" sz="1050" dirty="0">
                <a:solidFill>
                  <a:srgbClr val="8AA3C4"/>
                </a:solidFill>
                <a:latin typeface="Calibri" pitchFamily="34" charset="0"/>
                <a:ea typeface="Calibri" pitchFamily="34" charset="-122"/>
                <a:cs typeface="Calibri" pitchFamily="34" charset="-120"/>
              </a:rPr>
              <a:t>on the whiteboard</a:t>
            </a:r>
            <a:endParaRPr lang="en-US" sz="1050" dirty="0"/>
          </a:p>
        </p:txBody>
      </p:sp>
      <p:sp>
        <p:nvSpPr>
          <p:cNvPr id="13" name="Text 11"/>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84AB"/>
                </a:solidFill>
                <a:latin typeface="Calibri" pitchFamily="34" charset="0"/>
                <a:ea typeface="Calibri" pitchFamily="34" charset="-122"/>
                <a:cs typeface="Calibri" pitchFamily="34" charset="-120"/>
              </a:rPr>
              <a:t>ICL Sustainable Business Innovation &amp; AI Hackathon 2026  ·  Education Technology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85800" y="457200"/>
            <a:ext cx="10789920" cy="777240"/>
          </a:xfrm>
          <a:prstGeom prst="rect">
            <a:avLst/>
          </a:prstGeom>
          <a:noFill/>
          <a:ln/>
        </p:spPr>
        <p:txBody>
          <a:bodyPr wrap="square" lIns="0" tIns="0" rIns="0" bIns="0" rtlCol="0" anchor="ctr"/>
          <a:lstStyle/>
          <a:p>
            <a:pPr indent="0" marL="0">
              <a:buNone/>
            </a:pPr>
            <a:r>
              <a:rPr lang="en-US" sz="3600" b="1" dirty="0">
                <a:solidFill>
                  <a:srgbClr val="1F2A37"/>
                </a:solidFill>
                <a:latin typeface="Cambria" pitchFamily="34" charset="0"/>
                <a:ea typeface="Cambria" pitchFamily="34" charset="-122"/>
                <a:cs typeface="Cambria" pitchFamily="34" charset="-120"/>
              </a:rPr>
              <a:t>26 students. One teacher. Six hours.</a:t>
            </a:r>
            <a:endParaRPr lang="en-US" sz="3600" dirty="0"/>
          </a:p>
        </p:txBody>
      </p:sp>
      <p:sp>
        <p:nvSpPr>
          <p:cNvPr id="3" name="Text 1"/>
          <p:cNvSpPr/>
          <p:nvPr/>
        </p:nvSpPr>
        <p:spPr>
          <a:xfrm>
            <a:off x="685800" y="1197864"/>
            <a:ext cx="10789920" cy="384048"/>
          </a:xfrm>
          <a:prstGeom prst="rect">
            <a:avLst/>
          </a:prstGeom>
          <a:noFill/>
          <a:ln/>
        </p:spPr>
        <p:txBody>
          <a:bodyPr wrap="square" lIns="0" tIns="0" rIns="0" bIns="0" rtlCol="0" anchor="ctr"/>
          <a:lstStyle/>
          <a:p>
            <a:pPr indent="0" marL="0">
              <a:buNone/>
            </a:pPr>
            <a:r>
              <a:rPr lang="en-US" sz="1500" dirty="0">
                <a:solidFill>
                  <a:srgbClr val="6B7B92"/>
                </a:solidFill>
                <a:latin typeface="Calibri" pitchFamily="34" charset="0"/>
                <a:ea typeface="Calibri" pitchFamily="34" charset="-122"/>
                <a:cs typeface="Calibri" pitchFamily="34" charset="-120"/>
              </a:rPr>
              <a:t>The children who most need noticing are the hardest to see.</a:t>
            </a:r>
            <a:endParaRPr lang="en-US" sz="1500" dirty="0"/>
          </a:p>
        </p:txBody>
      </p:sp>
      <p:sp>
        <p:nvSpPr>
          <p:cNvPr id="4" name="Shape 2"/>
          <p:cNvSpPr/>
          <p:nvPr/>
        </p:nvSpPr>
        <p:spPr>
          <a:xfrm>
            <a:off x="685800" y="2011680"/>
            <a:ext cx="3401568" cy="2240280"/>
          </a:xfrm>
          <a:prstGeom prst="roundRect">
            <a:avLst>
              <a:gd name="adj" fmla="val 4898"/>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5" name="Shape 3"/>
          <p:cNvSpPr/>
          <p:nvPr/>
        </p:nvSpPr>
        <p:spPr>
          <a:xfrm>
            <a:off x="1005840" y="2304288"/>
            <a:ext cx="548640" cy="548640"/>
          </a:xfrm>
          <a:prstGeom prst="ellipse">
            <a:avLst/>
          </a:prstGeom>
          <a:solidFill>
            <a:srgbClr val="B9C4D4"/>
          </a:solidFill>
          <a:ln/>
          <a:effectLst>
            <a:outerShdw sx="100000" sy="100000" kx="0" ky="0" algn="bl" rotWithShape="0" blurRad="177800" dist="38100" dir="5400000">
              <a:srgbClr val="0B1220">
                <a:alpha val="16000"/>
              </a:srgbClr>
            </a:outerShdw>
          </a:effectLst>
        </p:spPr>
      </p:sp>
      <p:sp>
        <p:nvSpPr>
          <p:cNvPr id="6" name="Text 4"/>
          <p:cNvSpPr/>
          <p:nvPr/>
        </p:nvSpPr>
        <p:spPr>
          <a:xfrm>
            <a:off x="1691640" y="2377440"/>
            <a:ext cx="2194560" cy="365760"/>
          </a:xfrm>
          <a:prstGeom prst="rect">
            <a:avLst/>
          </a:prstGeom>
          <a:noFill/>
          <a:ln/>
        </p:spPr>
        <p:txBody>
          <a:bodyPr wrap="square" lIns="0" tIns="0" rIns="0" bIns="0" rtlCol="0" anchor="ctr"/>
          <a:lstStyle/>
          <a:p>
            <a:pPr indent="0" marL="0">
              <a:buNone/>
            </a:pPr>
            <a:r>
              <a:rPr lang="en-US" sz="1800" b="1" dirty="0">
                <a:solidFill>
                  <a:srgbClr val="1F2A37"/>
                </a:solidFill>
                <a:latin typeface="Cambria" pitchFamily="34" charset="0"/>
                <a:ea typeface="Cambria" pitchFamily="34" charset="-122"/>
                <a:cs typeface="Cambria" pitchFamily="34" charset="-120"/>
              </a:rPr>
              <a:t>Masking</a:t>
            </a:r>
            <a:endParaRPr lang="en-US" sz="1800" dirty="0"/>
          </a:p>
        </p:txBody>
      </p:sp>
      <p:sp>
        <p:nvSpPr>
          <p:cNvPr id="7" name="Text 5"/>
          <p:cNvSpPr/>
          <p:nvPr/>
        </p:nvSpPr>
        <p:spPr>
          <a:xfrm>
            <a:off x="1005840" y="3035808"/>
            <a:ext cx="2788920" cy="1005840"/>
          </a:xfrm>
          <a:prstGeom prst="rect">
            <a:avLst/>
          </a:prstGeom>
          <a:noFill/>
          <a:ln/>
        </p:spPr>
        <p:txBody>
          <a:bodyPr wrap="square" lIns="0" tIns="0" rIns="0" bIns="0" rtlCol="0" anchor="ctr"/>
          <a:lstStyle/>
          <a:p>
            <a:pPr indent="0" marL="0">
              <a:lnSpc>
                <a:spcPts val="1800"/>
              </a:lnSpc>
              <a:buNone/>
            </a:pPr>
            <a:r>
              <a:rPr lang="en-US" sz="1250" dirty="0">
                <a:solidFill>
                  <a:srgbClr val="6B7B92"/>
                </a:solidFill>
                <a:latin typeface="Calibri" pitchFamily="34" charset="0"/>
                <a:ea typeface="Calibri" pitchFamily="34" charset="-122"/>
                <a:cs typeface="Calibri" pitchFamily="34" charset="-120"/>
              </a:rPr>
              <a:t>Kids who have learned to perform “fine” because it is easier than explaining.</a:t>
            </a:r>
            <a:endParaRPr lang="en-US" sz="1250" dirty="0"/>
          </a:p>
        </p:txBody>
      </p:sp>
      <p:sp>
        <p:nvSpPr>
          <p:cNvPr id="8" name="Shape 6"/>
          <p:cNvSpPr/>
          <p:nvPr/>
        </p:nvSpPr>
        <p:spPr>
          <a:xfrm>
            <a:off x="4370832" y="2011680"/>
            <a:ext cx="3401568" cy="2240280"/>
          </a:xfrm>
          <a:prstGeom prst="roundRect">
            <a:avLst>
              <a:gd name="adj" fmla="val 4898"/>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9" name="Shape 7"/>
          <p:cNvSpPr/>
          <p:nvPr/>
        </p:nvSpPr>
        <p:spPr>
          <a:xfrm>
            <a:off x="4690872" y="2304288"/>
            <a:ext cx="548640" cy="548640"/>
          </a:xfrm>
          <a:prstGeom prst="ellipse">
            <a:avLst/>
          </a:prstGeom>
          <a:solidFill>
            <a:srgbClr val="7FA8D9"/>
          </a:solidFill>
          <a:ln/>
          <a:effectLst>
            <a:outerShdw sx="100000" sy="100000" kx="0" ky="0" algn="bl" rotWithShape="0" blurRad="177800" dist="38100" dir="5400000">
              <a:srgbClr val="0B1220">
                <a:alpha val="16000"/>
              </a:srgbClr>
            </a:outerShdw>
          </a:effectLst>
        </p:spPr>
      </p:sp>
      <p:sp>
        <p:nvSpPr>
          <p:cNvPr id="10" name="Text 8"/>
          <p:cNvSpPr/>
          <p:nvPr/>
        </p:nvSpPr>
        <p:spPr>
          <a:xfrm>
            <a:off x="5376672" y="2377440"/>
            <a:ext cx="2194560" cy="365760"/>
          </a:xfrm>
          <a:prstGeom prst="rect">
            <a:avLst/>
          </a:prstGeom>
          <a:noFill/>
          <a:ln/>
        </p:spPr>
        <p:txBody>
          <a:bodyPr wrap="square" lIns="0" tIns="0" rIns="0" bIns="0" rtlCol="0" anchor="ctr"/>
          <a:lstStyle/>
          <a:p>
            <a:pPr indent="0" marL="0">
              <a:buNone/>
            </a:pPr>
            <a:r>
              <a:rPr lang="en-US" sz="1800" b="1" dirty="0">
                <a:solidFill>
                  <a:srgbClr val="1F2A37"/>
                </a:solidFill>
                <a:latin typeface="Cambria" pitchFamily="34" charset="0"/>
                <a:ea typeface="Cambria" pitchFamily="34" charset="-122"/>
                <a:cs typeface="Cambria" pitchFamily="34" charset="-120"/>
              </a:rPr>
              <a:t>No words yet</a:t>
            </a:r>
            <a:endParaRPr lang="en-US" sz="1800" dirty="0"/>
          </a:p>
        </p:txBody>
      </p:sp>
      <p:sp>
        <p:nvSpPr>
          <p:cNvPr id="11" name="Text 9"/>
          <p:cNvSpPr/>
          <p:nvPr/>
        </p:nvSpPr>
        <p:spPr>
          <a:xfrm>
            <a:off x="4690872" y="3035808"/>
            <a:ext cx="2788920" cy="1005840"/>
          </a:xfrm>
          <a:prstGeom prst="rect">
            <a:avLst/>
          </a:prstGeom>
          <a:noFill/>
          <a:ln/>
        </p:spPr>
        <p:txBody>
          <a:bodyPr wrap="square" lIns="0" tIns="0" rIns="0" bIns="0" rtlCol="0" anchor="ctr"/>
          <a:lstStyle/>
          <a:p>
            <a:pPr indent="0" marL="0">
              <a:lnSpc>
                <a:spcPts val="1800"/>
              </a:lnSpc>
              <a:buNone/>
            </a:pPr>
            <a:r>
              <a:rPr lang="en-US" sz="1250" dirty="0">
                <a:solidFill>
                  <a:srgbClr val="6B7B92"/>
                </a:solidFill>
                <a:latin typeface="Calibri" pitchFamily="34" charset="0"/>
                <a:ea typeface="Calibri" pitchFamily="34" charset="-122"/>
                <a:cs typeface="Calibri" pitchFamily="34" charset="-120"/>
              </a:rPr>
              <a:t>Neurodivergent kids who feel it clearly but cannot name it on demand.</a:t>
            </a:r>
            <a:endParaRPr lang="en-US" sz="1250" dirty="0"/>
          </a:p>
        </p:txBody>
      </p:sp>
      <p:sp>
        <p:nvSpPr>
          <p:cNvPr id="12" name="Shape 10"/>
          <p:cNvSpPr/>
          <p:nvPr/>
        </p:nvSpPr>
        <p:spPr>
          <a:xfrm>
            <a:off x="8055864" y="2011680"/>
            <a:ext cx="3401568" cy="2240280"/>
          </a:xfrm>
          <a:prstGeom prst="roundRect">
            <a:avLst>
              <a:gd name="adj" fmla="val 4898"/>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3" name="Shape 11"/>
          <p:cNvSpPr/>
          <p:nvPr/>
        </p:nvSpPr>
        <p:spPr>
          <a:xfrm>
            <a:off x="8375904" y="2304288"/>
            <a:ext cx="548640" cy="548640"/>
          </a:xfrm>
          <a:prstGeom prst="ellipse">
            <a:avLst/>
          </a:prstGeom>
          <a:solidFill>
            <a:srgbClr val="8B7FD9"/>
          </a:solidFill>
          <a:ln/>
          <a:effectLst>
            <a:outerShdw sx="100000" sy="100000" kx="0" ky="0" algn="bl" rotWithShape="0" blurRad="177800" dist="38100" dir="5400000">
              <a:srgbClr val="0B1220">
                <a:alpha val="16000"/>
              </a:srgbClr>
            </a:outerShdw>
          </a:effectLst>
        </p:spPr>
      </p:sp>
      <p:sp>
        <p:nvSpPr>
          <p:cNvPr id="14" name="Text 12"/>
          <p:cNvSpPr/>
          <p:nvPr/>
        </p:nvSpPr>
        <p:spPr>
          <a:xfrm>
            <a:off x="9061704" y="2377440"/>
            <a:ext cx="2194560" cy="365760"/>
          </a:xfrm>
          <a:prstGeom prst="rect">
            <a:avLst/>
          </a:prstGeom>
          <a:noFill/>
          <a:ln/>
        </p:spPr>
        <p:txBody>
          <a:bodyPr wrap="square" lIns="0" tIns="0" rIns="0" bIns="0" rtlCol="0" anchor="ctr"/>
          <a:lstStyle/>
          <a:p>
            <a:pPr indent="0" marL="0">
              <a:buNone/>
            </a:pPr>
            <a:r>
              <a:rPr lang="en-US" sz="1800" b="1" dirty="0">
                <a:solidFill>
                  <a:srgbClr val="1F2A37"/>
                </a:solidFill>
                <a:latin typeface="Cambria" pitchFamily="34" charset="0"/>
                <a:ea typeface="Cambria" pitchFamily="34" charset="-122"/>
                <a:cs typeface="Cambria" pitchFamily="34" charset="-120"/>
              </a:rPr>
              <a:t>Won't say it aloud</a:t>
            </a:r>
            <a:endParaRPr lang="en-US" sz="1800" dirty="0"/>
          </a:p>
        </p:txBody>
      </p:sp>
      <p:sp>
        <p:nvSpPr>
          <p:cNvPr id="15" name="Text 13"/>
          <p:cNvSpPr/>
          <p:nvPr/>
        </p:nvSpPr>
        <p:spPr>
          <a:xfrm>
            <a:off x="8375904" y="3035808"/>
            <a:ext cx="2788920" cy="1005840"/>
          </a:xfrm>
          <a:prstGeom prst="rect">
            <a:avLst/>
          </a:prstGeom>
          <a:noFill/>
          <a:ln/>
        </p:spPr>
        <p:txBody>
          <a:bodyPr wrap="square" lIns="0" tIns="0" rIns="0" bIns="0" rtlCol="0" anchor="ctr"/>
          <a:lstStyle/>
          <a:p>
            <a:pPr indent="0" marL="0">
              <a:lnSpc>
                <a:spcPts val="1800"/>
              </a:lnSpc>
              <a:buNone/>
            </a:pPr>
            <a:r>
              <a:rPr lang="en-US" sz="1250" dirty="0">
                <a:solidFill>
                  <a:srgbClr val="6B7B92"/>
                </a:solidFill>
                <a:latin typeface="Calibri" pitchFamily="34" charset="0"/>
                <a:ea typeface="Calibri" pitchFamily="34" charset="-122"/>
                <a:cs typeface="Calibri" pitchFamily="34" charset="-120"/>
              </a:rPr>
              <a:t>Kids who would never raise a hand in front of 25 classmates.</a:t>
            </a:r>
            <a:endParaRPr lang="en-US" sz="1250" dirty="0"/>
          </a:p>
        </p:txBody>
      </p:sp>
      <p:sp>
        <p:nvSpPr>
          <p:cNvPr id="16" name="Shape 14"/>
          <p:cNvSpPr/>
          <p:nvPr/>
        </p:nvSpPr>
        <p:spPr>
          <a:xfrm>
            <a:off x="685800" y="4572000"/>
            <a:ext cx="10789920" cy="822960"/>
          </a:xfrm>
          <a:prstGeom prst="roundRect">
            <a:avLst>
              <a:gd name="adj" fmla="val 13333"/>
            </a:avLst>
          </a:prstGeom>
          <a:solidFill>
            <a:srgbClr val="21304F"/>
          </a:solidFill>
          <a:ln/>
          <a:effectLst>
            <a:outerShdw sx="100000" sy="100000" kx="0" ky="0" algn="bl" rotWithShape="0" blurRad="177800" dist="38100" dir="5400000">
              <a:srgbClr val="0B1220">
                <a:alpha val="16000"/>
              </a:srgbClr>
            </a:outerShdw>
          </a:effectLst>
        </p:spPr>
      </p:sp>
      <p:sp>
        <p:nvSpPr>
          <p:cNvPr id="17" name="Text 15"/>
          <p:cNvSpPr/>
          <p:nvPr/>
        </p:nvSpPr>
        <p:spPr>
          <a:xfrm>
            <a:off x="1005840" y="4572000"/>
            <a:ext cx="10149840" cy="822960"/>
          </a:xfrm>
          <a:prstGeom prst="rect">
            <a:avLst/>
          </a:prstGeom>
          <a:noFill/>
          <a:ln/>
        </p:spPr>
        <p:txBody>
          <a:bodyPr wrap="square" lIns="0" tIns="0" rIns="0" bIns="0" rtlCol="0" anchor="ctr"/>
          <a:lstStyle/>
          <a:p>
            <a:pPr indent="0" marL="0">
              <a:buNone/>
            </a:pPr>
            <a:r>
              <a:rPr lang="en-US" sz="1700" i="1" dirty="0">
                <a:solidFill>
                  <a:srgbClr val="FFFFFF"/>
                </a:solidFill>
                <a:latin typeface="Cambria" pitchFamily="34" charset="0"/>
                <a:ea typeface="Cambria" pitchFamily="34" charset="-122"/>
                <a:cs typeface="Cambria" pitchFamily="34" charset="-120"/>
              </a:rPr>
              <a:t>By the time a struggling child is obvious, they have usually been struggling for weeks.</a:t>
            </a:r>
            <a:endParaRPr lang="en-US" sz="1700" dirty="0"/>
          </a:p>
        </p:txBody>
      </p:sp>
      <p:sp>
        <p:nvSpPr>
          <p:cNvPr id="18" name="Text 16"/>
          <p:cNvSpPr/>
          <p:nvPr/>
        </p:nvSpPr>
        <p:spPr>
          <a:xfrm>
            <a:off x="685800" y="5532120"/>
            <a:ext cx="10789920" cy="365760"/>
          </a:xfrm>
          <a:prstGeom prst="rect">
            <a:avLst/>
          </a:prstGeom>
          <a:noFill/>
          <a:ln/>
        </p:spPr>
        <p:txBody>
          <a:bodyPr wrap="square" lIns="0" tIns="0" rIns="0" bIns="0" rtlCol="0" anchor="ctr"/>
          <a:lstStyle/>
          <a:p>
            <a:pPr indent="0" marL="0">
              <a:buNone/>
            </a:pPr>
            <a:r>
              <a:rPr lang="en-US" sz="1200" dirty="0">
                <a:solidFill>
                  <a:srgbClr val="6B7B92"/>
                </a:solidFill>
                <a:latin typeface="Calibri" pitchFamily="34" charset="0"/>
                <a:ea typeface="Calibri" pitchFamily="34" charset="-122"/>
                <a:cs typeface="Calibri" pitchFamily="34" charset="-120"/>
              </a:rPr>
              <a:t>Existing tools ask children to name a feeling in words, or ask teachers to notice 26 people at once. Both fail the same children.</a:t>
            </a:r>
            <a:endParaRPr lang="en-US" sz="1200" dirty="0"/>
          </a:p>
        </p:txBody>
      </p:sp>
      <p:sp>
        <p:nvSpPr>
          <p:cNvPr id="19" name="Text 17"/>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7B92"/>
                </a:solidFill>
                <a:latin typeface="Calibri" pitchFamily="34" charset="0"/>
                <a:ea typeface="Calibri" pitchFamily="34" charset="-122"/>
                <a:cs typeface="Calibri" pitchFamily="34" charset="-120"/>
              </a:rPr>
              <a:t>The problem</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10789920" cy="777240"/>
          </a:xfrm>
          <a:prstGeom prst="rect">
            <a:avLst/>
          </a:prstGeom>
          <a:noFill/>
          <a:ln/>
        </p:spPr>
        <p:txBody>
          <a:bodyPr wrap="square" lIns="0" tIns="0" rIns="0" bIns="0" rtlCol="0" anchor="ctr"/>
          <a:lstStyle/>
          <a:p>
            <a:pPr indent="0" marL="0">
              <a:buNone/>
            </a:pPr>
            <a:r>
              <a:rPr lang="en-US" sz="3600" b="1" dirty="0">
                <a:solidFill>
                  <a:srgbClr val="1F2A37"/>
                </a:solidFill>
                <a:latin typeface="Cambria" pitchFamily="34" charset="0"/>
                <a:ea typeface="Cambria" pitchFamily="34" charset="-122"/>
                <a:cs typeface="Cambria" pitchFamily="34" charset="-120"/>
              </a:rPr>
              <a:t>Meet Sunny</a:t>
            </a:r>
            <a:endParaRPr lang="en-US" sz="3600" dirty="0"/>
          </a:p>
        </p:txBody>
      </p:sp>
      <p:sp>
        <p:nvSpPr>
          <p:cNvPr id="3" name="Text 1"/>
          <p:cNvSpPr/>
          <p:nvPr/>
        </p:nvSpPr>
        <p:spPr>
          <a:xfrm>
            <a:off x="685800" y="1197864"/>
            <a:ext cx="10789920" cy="384048"/>
          </a:xfrm>
          <a:prstGeom prst="rect">
            <a:avLst/>
          </a:prstGeom>
          <a:noFill/>
          <a:ln/>
        </p:spPr>
        <p:txBody>
          <a:bodyPr wrap="square" lIns="0" tIns="0" rIns="0" bIns="0" rtlCol="0" anchor="ctr"/>
          <a:lstStyle/>
          <a:p>
            <a:pPr indent="0" marL="0">
              <a:buNone/>
            </a:pPr>
            <a:r>
              <a:rPr lang="en-US" sz="1500" dirty="0">
                <a:solidFill>
                  <a:srgbClr val="6B7B92"/>
                </a:solidFill>
                <a:latin typeface="Calibri" pitchFamily="34" charset="0"/>
                <a:ea typeface="Calibri" pitchFamily="34" charset="-122"/>
                <a:cs typeface="Calibri" pitchFamily="34" charset="-120"/>
              </a:rPr>
              <a:t>One tap from the child. One calm dashboard for the teacher.</a:t>
            </a:r>
            <a:endParaRPr lang="en-US" sz="1500" dirty="0"/>
          </a:p>
        </p:txBody>
      </p:sp>
      <p:sp>
        <p:nvSpPr>
          <p:cNvPr id="4" name="Shape 2"/>
          <p:cNvSpPr/>
          <p:nvPr/>
        </p:nvSpPr>
        <p:spPr>
          <a:xfrm>
            <a:off x="685800" y="1828800"/>
            <a:ext cx="5257800" cy="3566160"/>
          </a:xfrm>
          <a:prstGeom prst="roundRect">
            <a:avLst>
              <a:gd name="adj" fmla="val 307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5" name="Shape 3"/>
          <p:cNvSpPr/>
          <p:nvPr/>
        </p:nvSpPr>
        <p:spPr>
          <a:xfrm>
            <a:off x="1051560" y="2148840"/>
            <a:ext cx="502920" cy="502920"/>
          </a:xfrm>
          <a:prstGeom prst="ellipse">
            <a:avLst/>
          </a:prstGeom>
          <a:solidFill>
            <a:srgbClr val="FFC24A"/>
          </a:solidFill>
          <a:ln/>
          <a:effectLst>
            <a:outerShdw sx="100000" sy="100000" kx="0" ky="0" algn="bl" rotWithShape="0" blurRad="177800" dist="38100" dir="5400000">
              <a:srgbClr val="0B1220">
                <a:alpha val="16000"/>
              </a:srgbClr>
            </a:outerShdw>
          </a:effectLst>
        </p:spPr>
      </p:sp>
      <p:sp>
        <p:nvSpPr>
          <p:cNvPr id="6" name="Text 4"/>
          <p:cNvSpPr/>
          <p:nvPr/>
        </p:nvSpPr>
        <p:spPr>
          <a:xfrm>
            <a:off x="1051560" y="2148840"/>
            <a:ext cx="502920" cy="502920"/>
          </a:xfrm>
          <a:prstGeom prst="rect">
            <a:avLst/>
          </a:prstGeom>
          <a:noFill/>
          <a:ln/>
        </p:spPr>
        <p:txBody>
          <a:bodyPr wrap="square" lIns="0" tIns="0" rIns="0" bIns="0" rtlCol="0" anchor="ctr"/>
          <a:lstStyle/>
          <a:p>
            <a:pPr algn="ctr" indent="0" marL="0">
              <a:buNone/>
            </a:pPr>
            <a:r>
              <a:rPr lang="en-US" sz="1800" b="1" dirty="0">
                <a:solidFill>
                  <a:srgbClr val="21304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719072" y="2194560"/>
            <a:ext cx="3657600" cy="384048"/>
          </a:xfrm>
          <a:prstGeom prst="rect">
            <a:avLst/>
          </a:prstGeom>
          <a:noFill/>
          <a:ln/>
        </p:spPr>
        <p:txBody>
          <a:bodyPr wrap="square" lIns="0" tIns="0" rIns="0" bIns="0" rtlCol="0" anchor="ctr"/>
          <a:lstStyle/>
          <a:p>
            <a:pPr indent="0" marL="0">
              <a:buNone/>
            </a:pPr>
            <a:r>
              <a:rPr lang="en-US" sz="2000" b="1" dirty="0">
                <a:solidFill>
                  <a:srgbClr val="1F2A37"/>
                </a:solidFill>
                <a:latin typeface="Cambria" pitchFamily="34" charset="0"/>
                <a:ea typeface="Cambria" pitchFamily="34" charset="-122"/>
                <a:cs typeface="Cambria" pitchFamily="34" charset="-120"/>
              </a:rPr>
              <a:t>The child</a:t>
            </a:r>
            <a:endParaRPr lang="en-US" sz="2000" dirty="0"/>
          </a:p>
        </p:txBody>
      </p:sp>
      <p:sp>
        <p:nvSpPr>
          <p:cNvPr id="8" name="Text 6"/>
          <p:cNvSpPr/>
          <p:nvPr/>
        </p:nvSpPr>
        <p:spPr>
          <a:xfrm>
            <a:off x="1051560" y="2724912"/>
            <a:ext cx="4572000" cy="320040"/>
          </a:xfrm>
          <a:prstGeom prst="rect">
            <a:avLst/>
          </a:prstGeom>
          <a:noFill/>
          <a:ln/>
        </p:spPr>
        <p:txBody>
          <a:bodyPr wrap="square" lIns="0" tIns="0" rIns="0" bIns="0" rtlCol="0" anchor="ctr"/>
          <a:lstStyle/>
          <a:p>
            <a:pPr indent="0" marL="0">
              <a:buNone/>
            </a:pPr>
            <a:r>
              <a:rPr lang="en-US" sz="1350" i="1" dirty="0">
                <a:solidFill>
                  <a:srgbClr val="5B8DEF"/>
                </a:solidFill>
                <a:latin typeface="Calibri" pitchFamily="34" charset="0"/>
                <a:ea typeface="Calibri" pitchFamily="34" charset="-122"/>
                <a:cs typeface="Calibri" pitchFamily="34" charset="-120"/>
              </a:rPr>
              <a:t>“How are you feeling today?”</a:t>
            </a:r>
            <a:endParaRPr lang="en-US" sz="1350" dirty="0"/>
          </a:p>
        </p:txBody>
      </p:sp>
      <p:pic>
        <p:nvPicPr>
          <p:cNvPr id="9" name="Image 0" descr="preencoded.png">    </p:cNvPr>
          <p:cNvPicPr>
            <a:picLocks noChangeAspect="1"/>
          </p:cNvPicPr>
          <p:nvPr/>
        </p:nvPicPr>
        <p:blipFill>
          <a:blip r:embed="rId1"/>
          <a:stretch>
            <a:fillRect/>
          </a:stretch>
        </p:blipFill>
        <p:spPr>
          <a:xfrm>
            <a:off x="1051560" y="3154680"/>
            <a:ext cx="566928" cy="566928"/>
          </a:xfrm>
          <a:prstGeom prst="rect">
            <a:avLst/>
          </a:prstGeom>
        </p:spPr>
      </p:pic>
      <p:pic>
        <p:nvPicPr>
          <p:cNvPr id="10" name="Image 1" descr="preencoded.png">    </p:cNvPr>
          <p:cNvPicPr>
            <a:picLocks noChangeAspect="1"/>
          </p:cNvPicPr>
          <p:nvPr/>
        </p:nvPicPr>
        <p:blipFill>
          <a:blip r:embed="rId2"/>
          <a:stretch>
            <a:fillRect/>
          </a:stretch>
        </p:blipFill>
        <p:spPr>
          <a:xfrm>
            <a:off x="1764792" y="3154680"/>
            <a:ext cx="566928" cy="566928"/>
          </a:xfrm>
          <a:prstGeom prst="rect">
            <a:avLst/>
          </a:prstGeom>
        </p:spPr>
      </p:pic>
      <p:pic>
        <p:nvPicPr>
          <p:cNvPr id="11" name="Image 2" descr="preencoded.png">    </p:cNvPr>
          <p:cNvPicPr>
            <a:picLocks noChangeAspect="1"/>
          </p:cNvPicPr>
          <p:nvPr/>
        </p:nvPicPr>
        <p:blipFill>
          <a:blip r:embed="rId3"/>
          <a:stretch>
            <a:fillRect/>
          </a:stretch>
        </p:blipFill>
        <p:spPr>
          <a:xfrm>
            <a:off x="2478024" y="3154680"/>
            <a:ext cx="566928" cy="566928"/>
          </a:xfrm>
          <a:prstGeom prst="rect">
            <a:avLst/>
          </a:prstGeom>
        </p:spPr>
      </p:pic>
      <p:pic>
        <p:nvPicPr>
          <p:cNvPr id="12" name="Image 3" descr="preencoded.png">    </p:cNvPr>
          <p:cNvPicPr>
            <a:picLocks noChangeAspect="1"/>
          </p:cNvPicPr>
          <p:nvPr/>
        </p:nvPicPr>
        <p:blipFill>
          <a:blip r:embed="rId4"/>
          <a:stretch>
            <a:fillRect/>
          </a:stretch>
        </p:blipFill>
        <p:spPr>
          <a:xfrm>
            <a:off x="3191256" y="3154680"/>
            <a:ext cx="566928" cy="566928"/>
          </a:xfrm>
          <a:prstGeom prst="rect">
            <a:avLst/>
          </a:prstGeom>
        </p:spPr>
      </p:pic>
      <p:pic>
        <p:nvPicPr>
          <p:cNvPr id="13" name="Image 4" descr="preencoded.png">    </p:cNvPr>
          <p:cNvPicPr>
            <a:picLocks noChangeAspect="1"/>
          </p:cNvPicPr>
          <p:nvPr/>
        </p:nvPicPr>
        <p:blipFill>
          <a:blip r:embed="rId5"/>
          <a:stretch>
            <a:fillRect/>
          </a:stretch>
        </p:blipFill>
        <p:spPr>
          <a:xfrm>
            <a:off x="3904488" y="3154680"/>
            <a:ext cx="566928" cy="566928"/>
          </a:xfrm>
          <a:prstGeom prst="rect">
            <a:avLst/>
          </a:prstGeom>
        </p:spPr>
      </p:pic>
      <p:sp>
        <p:nvSpPr>
          <p:cNvPr id="14" name="Text 7"/>
          <p:cNvSpPr/>
          <p:nvPr/>
        </p:nvSpPr>
        <p:spPr>
          <a:xfrm>
            <a:off x="1051560" y="3931920"/>
            <a:ext cx="4572000" cy="118872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6B7B92"/>
                </a:solidFill>
                <a:latin typeface="Calibri" pitchFamily="34" charset="0"/>
                <a:ea typeface="Calibri" pitchFamily="34" charset="-122"/>
                <a:cs typeface="Calibri" pitchFamily="34" charset="-120"/>
              </a:rPr>
              <a:t>Faces, not words — nothing to spell, nothing to decode</a:t>
            </a:r>
            <a:endParaRPr lang="en-US" sz="1200" dirty="0"/>
          </a:p>
          <a:p>
            <a:pPr marL="342900" indent="-342900">
              <a:spcAft>
                <a:spcPts val="500"/>
              </a:spcAft>
              <a:buSzPct val="100000"/>
              <a:buChar char="•"/>
            </a:pPr>
            <a:r>
              <a:rPr lang="en-US" sz="1200" dirty="0">
                <a:solidFill>
                  <a:srgbClr val="6B7B92"/>
                </a:solidFill>
                <a:latin typeface="Calibri" pitchFamily="34" charset="0"/>
                <a:ea typeface="Calibri" pitchFamily="34" charset="-122"/>
                <a:cs typeface="Calibri" pitchFamily="34" charset="-120"/>
              </a:rPr>
              <a:t>The bottom of the scale is a thumbs-down, not a crying face</a:t>
            </a:r>
            <a:endParaRPr lang="en-US" sz="1200" dirty="0"/>
          </a:p>
          <a:p>
            <a:pPr marL="342900" indent="-342900">
              <a:spcAft>
                <a:spcPts val="500"/>
              </a:spcAft>
              <a:buSzPct val="100000"/>
              <a:buChar char="•"/>
            </a:pPr>
            <a:r>
              <a:rPr lang="en-US" sz="1200" dirty="0">
                <a:solidFill>
                  <a:srgbClr val="6B7B92"/>
                </a:solidFill>
                <a:latin typeface="Calibri" pitchFamily="34" charset="0"/>
                <a:ea typeface="Calibri" pitchFamily="34" charset="-122"/>
                <a:cs typeface="Calibri" pitchFamily="34" charset="-120"/>
              </a:rPr>
              <a:t>Optional reason tag, including “rather not say”</a:t>
            </a:r>
            <a:endParaRPr lang="en-US" sz="1200" dirty="0"/>
          </a:p>
        </p:txBody>
      </p:sp>
      <p:sp>
        <p:nvSpPr>
          <p:cNvPr id="15" name="Shape 8"/>
          <p:cNvSpPr/>
          <p:nvPr/>
        </p:nvSpPr>
        <p:spPr>
          <a:xfrm>
            <a:off x="6217920" y="1828800"/>
            <a:ext cx="5257800" cy="3566160"/>
          </a:xfrm>
          <a:prstGeom prst="roundRect">
            <a:avLst>
              <a:gd name="adj" fmla="val 307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6" name="Shape 9"/>
          <p:cNvSpPr/>
          <p:nvPr/>
        </p:nvSpPr>
        <p:spPr>
          <a:xfrm>
            <a:off x="6583680" y="2148840"/>
            <a:ext cx="502920" cy="502920"/>
          </a:xfrm>
          <a:prstGeom prst="ellipse">
            <a:avLst/>
          </a:prstGeom>
          <a:solidFill>
            <a:srgbClr val="5B8DEF"/>
          </a:solidFill>
          <a:ln/>
          <a:effectLst>
            <a:outerShdw sx="100000" sy="100000" kx="0" ky="0" algn="bl" rotWithShape="0" blurRad="177800" dist="38100" dir="5400000">
              <a:srgbClr val="0B1220">
                <a:alpha val="16000"/>
              </a:srgbClr>
            </a:outerShdw>
          </a:effectLst>
        </p:spPr>
      </p:sp>
      <p:sp>
        <p:nvSpPr>
          <p:cNvPr id="17" name="Text 10"/>
          <p:cNvSpPr/>
          <p:nvPr/>
        </p:nvSpPr>
        <p:spPr>
          <a:xfrm>
            <a:off x="6583680" y="21488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8" name="Text 11"/>
          <p:cNvSpPr/>
          <p:nvPr/>
        </p:nvSpPr>
        <p:spPr>
          <a:xfrm>
            <a:off x="7251192" y="2194560"/>
            <a:ext cx="3657600" cy="384048"/>
          </a:xfrm>
          <a:prstGeom prst="rect">
            <a:avLst/>
          </a:prstGeom>
          <a:noFill/>
          <a:ln/>
        </p:spPr>
        <p:txBody>
          <a:bodyPr wrap="square" lIns="0" tIns="0" rIns="0" bIns="0" rtlCol="0" anchor="ctr"/>
          <a:lstStyle/>
          <a:p>
            <a:pPr indent="0" marL="0">
              <a:buNone/>
            </a:pPr>
            <a:r>
              <a:rPr lang="en-US" sz="2000" b="1" dirty="0">
                <a:solidFill>
                  <a:srgbClr val="1F2A37"/>
                </a:solidFill>
                <a:latin typeface="Cambria" pitchFamily="34" charset="0"/>
                <a:ea typeface="Cambria" pitchFamily="34" charset="-122"/>
                <a:cs typeface="Cambria" pitchFamily="34" charset="-120"/>
              </a:rPr>
              <a:t>The teacher</a:t>
            </a:r>
            <a:endParaRPr lang="en-US" sz="2000" dirty="0"/>
          </a:p>
        </p:txBody>
      </p:sp>
      <p:sp>
        <p:nvSpPr>
          <p:cNvPr id="19" name="Text 12"/>
          <p:cNvSpPr/>
          <p:nvPr/>
        </p:nvSpPr>
        <p:spPr>
          <a:xfrm>
            <a:off x="6583680" y="2724912"/>
            <a:ext cx="4572000" cy="320040"/>
          </a:xfrm>
          <a:prstGeom prst="rect">
            <a:avLst/>
          </a:prstGeom>
          <a:noFill/>
          <a:ln/>
        </p:spPr>
        <p:txBody>
          <a:bodyPr wrap="square" lIns="0" tIns="0" rIns="0" bIns="0" rtlCol="0" anchor="ctr"/>
          <a:lstStyle/>
          <a:p>
            <a:pPr indent="0" marL="0">
              <a:buNone/>
            </a:pPr>
            <a:r>
              <a:rPr lang="en-US" sz="1350" i="1" dirty="0">
                <a:solidFill>
                  <a:srgbClr val="5B8DEF"/>
                </a:solidFill>
                <a:latin typeface="Calibri" pitchFamily="34" charset="0"/>
                <a:ea typeface="Calibri" pitchFamily="34" charset="-122"/>
                <a:cs typeface="Calibri" pitchFamily="34" charset="-120"/>
              </a:rPr>
              <a:t>A separate sign-in, on a separate screen</a:t>
            </a:r>
            <a:endParaRPr lang="en-US" sz="1350" dirty="0"/>
          </a:p>
        </p:txBody>
      </p:sp>
      <p:pic>
        <p:nvPicPr>
          <p:cNvPr id="20" name="Image 5" descr="preencoded.png">    </p:cNvPr>
          <p:cNvPicPr>
            <a:picLocks noChangeAspect="1"/>
          </p:cNvPicPr>
          <p:nvPr/>
        </p:nvPicPr>
        <p:blipFill>
          <a:blip r:embed="rId6"/>
          <a:stretch>
            <a:fillRect/>
          </a:stretch>
        </p:blipFill>
        <p:spPr>
          <a:xfrm>
            <a:off x="6583680" y="3154680"/>
            <a:ext cx="310896" cy="310896"/>
          </a:xfrm>
          <a:prstGeom prst="rect">
            <a:avLst/>
          </a:prstGeom>
        </p:spPr>
      </p:pic>
      <p:pic>
        <p:nvPicPr>
          <p:cNvPr id="21" name="Image 6" descr="preencoded.png">    </p:cNvPr>
          <p:cNvPicPr>
            <a:picLocks noChangeAspect="1"/>
          </p:cNvPicPr>
          <p:nvPr/>
        </p:nvPicPr>
        <p:blipFill>
          <a:blip r:embed="rId7"/>
          <a:stretch>
            <a:fillRect/>
          </a:stretch>
        </p:blipFill>
        <p:spPr>
          <a:xfrm>
            <a:off x="6967728" y="3154680"/>
            <a:ext cx="310896" cy="310896"/>
          </a:xfrm>
          <a:prstGeom prst="rect">
            <a:avLst/>
          </a:prstGeom>
        </p:spPr>
      </p:pic>
      <p:pic>
        <p:nvPicPr>
          <p:cNvPr id="22" name="Image 7" descr="preencoded.png">    </p:cNvPr>
          <p:cNvPicPr>
            <a:picLocks noChangeAspect="1"/>
          </p:cNvPicPr>
          <p:nvPr/>
        </p:nvPicPr>
        <p:blipFill>
          <a:blip r:embed="rId8"/>
          <a:stretch>
            <a:fillRect/>
          </a:stretch>
        </p:blipFill>
        <p:spPr>
          <a:xfrm>
            <a:off x="7351776" y="3154680"/>
            <a:ext cx="310896" cy="310896"/>
          </a:xfrm>
          <a:prstGeom prst="rect">
            <a:avLst/>
          </a:prstGeom>
        </p:spPr>
      </p:pic>
      <p:pic>
        <p:nvPicPr>
          <p:cNvPr id="23" name="Image 8" descr="preencoded.png">    </p:cNvPr>
          <p:cNvPicPr>
            <a:picLocks noChangeAspect="1"/>
          </p:cNvPicPr>
          <p:nvPr/>
        </p:nvPicPr>
        <p:blipFill>
          <a:blip r:embed="rId9"/>
          <a:stretch>
            <a:fillRect/>
          </a:stretch>
        </p:blipFill>
        <p:spPr>
          <a:xfrm>
            <a:off x="7735824" y="3154680"/>
            <a:ext cx="310896" cy="310896"/>
          </a:xfrm>
          <a:prstGeom prst="rect">
            <a:avLst/>
          </a:prstGeom>
        </p:spPr>
      </p:pic>
      <p:pic>
        <p:nvPicPr>
          <p:cNvPr id="24" name="Image 9" descr="preencoded.png">    </p:cNvPr>
          <p:cNvPicPr>
            <a:picLocks noChangeAspect="1"/>
          </p:cNvPicPr>
          <p:nvPr/>
        </p:nvPicPr>
        <p:blipFill>
          <a:blip r:embed="rId10"/>
          <a:stretch>
            <a:fillRect/>
          </a:stretch>
        </p:blipFill>
        <p:spPr>
          <a:xfrm>
            <a:off x="8119872" y="3154680"/>
            <a:ext cx="310896" cy="310896"/>
          </a:xfrm>
          <a:prstGeom prst="rect">
            <a:avLst/>
          </a:prstGeom>
        </p:spPr>
      </p:pic>
      <p:pic>
        <p:nvPicPr>
          <p:cNvPr id="25" name="Image 10" descr="preencoded.png">    </p:cNvPr>
          <p:cNvPicPr>
            <a:picLocks noChangeAspect="1"/>
          </p:cNvPicPr>
          <p:nvPr/>
        </p:nvPicPr>
        <p:blipFill>
          <a:blip r:embed="rId11"/>
          <a:stretch>
            <a:fillRect/>
          </a:stretch>
        </p:blipFill>
        <p:spPr>
          <a:xfrm>
            <a:off x="8503920" y="3154680"/>
            <a:ext cx="310896" cy="310896"/>
          </a:xfrm>
          <a:prstGeom prst="rect">
            <a:avLst/>
          </a:prstGeom>
        </p:spPr>
      </p:pic>
      <p:pic>
        <p:nvPicPr>
          <p:cNvPr id="26" name="Image 11" descr="preencoded.png">    </p:cNvPr>
          <p:cNvPicPr>
            <a:picLocks noChangeAspect="1"/>
          </p:cNvPicPr>
          <p:nvPr/>
        </p:nvPicPr>
        <p:blipFill>
          <a:blip r:embed="rId12"/>
          <a:stretch>
            <a:fillRect/>
          </a:stretch>
        </p:blipFill>
        <p:spPr>
          <a:xfrm>
            <a:off x="6583680" y="3538728"/>
            <a:ext cx="310896" cy="310896"/>
          </a:xfrm>
          <a:prstGeom prst="rect">
            <a:avLst/>
          </a:prstGeom>
        </p:spPr>
      </p:pic>
      <p:pic>
        <p:nvPicPr>
          <p:cNvPr id="27" name="Image 12" descr="preencoded.png">    </p:cNvPr>
          <p:cNvPicPr>
            <a:picLocks noChangeAspect="1"/>
          </p:cNvPicPr>
          <p:nvPr/>
        </p:nvPicPr>
        <p:blipFill>
          <a:blip r:embed="rId13"/>
          <a:stretch>
            <a:fillRect/>
          </a:stretch>
        </p:blipFill>
        <p:spPr>
          <a:xfrm>
            <a:off x="6967728" y="3538728"/>
            <a:ext cx="310896" cy="310896"/>
          </a:xfrm>
          <a:prstGeom prst="rect">
            <a:avLst/>
          </a:prstGeom>
        </p:spPr>
      </p:pic>
      <p:pic>
        <p:nvPicPr>
          <p:cNvPr id="28" name="Image 13" descr="preencoded.png">    </p:cNvPr>
          <p:cNvPicPr>
            <a:picLocks noChangeAspect="1"/>
          </p:cNvPicPr>
          <p:nvPr/>
        </p:nvPicPr>
        <p:blipFill>
          <a:blip r:embed="rId14"/>
          <a:stretch>
            <a:fillRect/>
          </a:stretch>
        </p:blipFill>
        <p:spPr>
          <a:xfrm>
            <a:off x="7351776" y="3538728"/>
            <a:ext cx="310896" cy="310896"/>
          </a:xfrm>
          <a:prstGeom prst="rect">
            <a:avLst/>
          </a:prstGeom>
        </p:spPr>
      </p:pic>
      <p:pic>
        <p:nvPicPr>
          <p:cNvPr id="29" name="Image 14" descr="preencoded.png">    </p:cNvPr>
          <p:cNvPicPr>
            <a:picLocks noChangeAspect="1"/>
          </p:cNvPicPr>
          <p:nvPr/>
        </p:nvPicPr>
        <p:blipFill>
          <a:blip r:embed="rId15"/>
          <a:stretch>
            <a:fillRect/>
          </a:stretch>
        </p:blipFill>
        <p:spPr>
          <a:xfrm>
            <a:off x="7735824" y="3538728"/>
            <a:ext cx="310896" cy="310896"/>
          </a:xfrm>
          <a:prstGeom prst="rect">
            <a:avLst/>
          </a:prstGeom>
        </p:spPr>
      </p:pic>
      <p:pic>
        <p:nvPicPr>
          <p:cNvPr id="30" name="Image 15" descr="preencoded.png">    </p:cNvPr>
          <p:cNvPicPr>
            <a:picLocks noChangeAspect="1"/>
          </p:cNvPicPr>
          <p:nvPr/>
        </p:nvPicPr>
        <p:blipFill>
          <a:blip r:embed="rId16"/>
          <a:stretch>
            <a:fillRect/>
          </a:stretch>
        </p:blipFill>
        <p:spPr>
          <a:xfrm>
            <a:off x="8119872" y="3538728"/>
            <a:ext cx="310896" cy="310896"/>
          </a:xfrm>
          <a:prstGeom prst="rect">
            <a:avLst/>
          </a:prstGeom>
        </p:spPr>
      </p:pic>
      <p:pic>
        <p:nvPicPr>
          <p:cNvPr id="31" name="Image 16" descr="preencoded.png">    </p:cNvPr>
          <p:cNvPicPr>
            <a:picLocks noChangeAspect="1"/>
          </p:cNvPicPr>
          <p:nvPr/>
        </p:nvPicPr>
        <p:blipFill>
          <a:blip r:embed="rId17"/>
          <a:stretch>
            <a:fillRect/>
          </a:stretch>
        </p:blipFill>
        <p:spPr>
          <a:xfrm>
            <a:off x="8503920" y="3538728"/>
            <a:ext cx="310896" cy="310896"/>
          </a:xfrm>
          <a:prstGeom prst="rect">
            <a:avLst/>
          </a:prstGeom>
        </p:spPr>
      </p:pic>
      <p:sp>
        <p:nvSpPr>
          <p:cNvPr id="32" name="Text 13"/>
          <p:cNvSpPr/>
          <p:nvPr/>
        </p:nvSpPr>
        <p:spPr>
          <a:xfrm>
            <a:off x="9052560" y="3108960"/>
            <a:ext cx="228600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6B7B92"/>
                </a:solidFill>
                <a:latin typeface="Calibri" pitchFamily="34" charset="0"/>
                <a:ea typeface="Calibri" pitchFamily="34" charset="-122"/>
                <a:cs typeface="Calibri" pitchFamily="34" charset="-120"/>
              </a:rPr>
              <a:t>Soft signals, never red alarms</a:t>
            </a:r>
            <a:endParaRPr lang="en-US" sz="1100" dirty="0"/>
          </a:p>
          <a:p>
            <a:pPr marL="342900" indent="-342900">
              <a:spcAft>
                <a:spcPts val="500"/>
              </a:spcAft>
              <a:buSzPct val="100000"/>
              <a:buChar char="•"/>
            </a:pPr>
            <a:r>
              <a:rPr lang="en-US" sz="1100" dirty="0">
                <a:solidFill>
                  <a:srgbClr val="6B7B92"/>
                </a:solidFill>
                <a:latin typeface="Calibri" pitchFamily="34" charset="0"/>
                <a:ea typeface="Calibri" pitchFamily="34" charset="-122"/>
                <a:cs typeface="Calibri" pitchFamily="34" charset="-120"/>
              </a:rPr>
              <a:t>Patterns over time a grid scan would miss</a:t>
            </a:r>
            <a:endParaRPr lang="en-US" sz="1100" dirty="0"/>
          </a:p>
          <a:p>
            <a:pPr marL="342900" indent="-342900">
              <a:spcAft>
                <a:spcPts val="500"/>
              </a:spcAft>
              <a:buSzPct val="100000"/>
              <a:buChar char="•"/>
            </a:pPr>
            <a:r>
              <a:rPr lang="en-US" sz="1100" dirty="0">
                <a:solidFill>
                  <a:srgbClr val="6B7B92"/>
                </a:solidFill>
                <a:latin typeface="Calibri" pitchFamily="34" charset="0"/>
                <a:ea typeface="Calibri" pitchFamily="34" charset="-122"/>
                <a:cs typeface="Calibri" pitchFamily="34" charset="-120"/>
              </a:rPr>
              <a:t>A child's screen can never reach this one</a:t>
            </a:r>
            <a:endParaRPr lang="en-US" sz="1100" dirty="0"/>
          </a:p>
        </p:txBody>
      </p:sp>
      <p:sp>
        <p:nvSpPr>
          <p:cNvPr id="33" name="Text 14"/>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7B92"/>
                </a:solidFill>
                <a:latin typeface="Calibri" pitchFamily="34" charset="0"/>
                <a:ea typeface="Calibri" pitchFamily="34" charset="-122"/>
                <a:cs typeface="Calibri" pitchFamily="34" charset="-120"/>
              </a:rPr>
              <a:t>The solution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822960" y="914400"/>
            <a:ext cx="822960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You are the class.</a:t>
            </a:r>
            <a:endParaRPr lang="en-US" sz="4600" dirty="0"/>
          </a:p>
        </p:txBody>
      </p:sp>
      <p:sp>
        <p:nvSpPr>
          <p:cNvPr id="3" name="Text 1"/>
          <p:cNvSpPr/>
          <p:nvPr/>
        </p:nvSpPr>
        <p:spPr>
          <a:xfrm>
            <a:off x="868680" y="1874520"/>
            <a:ext cx="8229600" cy="411480"/>
          </a:xfrm>
          <a:prstGeom prst="rect">
            <a:avLst/>
          </a:prstGeom>
          <a:noFill/>
          <a:ln/>
        </p:spPr>
        <p:txBody>
          <a:bodyPr wrap="square" lIns="0" tIns="0" rIns="0" bIns="0" rtlCol="0" anchor="ctr"/>
          <a:lstStyle/>
          <a:p>
            <a:pPr indent="0" marL="0">
              <a:buNone/>
            </a:pPr>
            <a:r>
              <a:rPr lang="en-US" sz="1700" dirty="0">
                <a:solidFill>
                  <a:srgbClr val="FFC24A"/>
                </a:solidFill>
                <a:latin typeface="Calibri" pitchFamily="34" charset="0"/>
                <a:ea typeface="Calibri" pitchFamily="34" charset="-122"/>
                <a:cs typeface="Calibri" pitchFamily="34" charset="-120"/>
              </a:rPr>
              <a:t>Switch to the live teacher screen now.</a:t>
            </a:r>
            <a:endParaRPr lang="en-US" sz="1700" dirty="0"/>
          </a:p>
        </p:txBody>
      </p:sp>
      <p:sp>
        <p:nvSpPr>
          <p:cNvPr id="4" name="Shape 2"/>
          <p:cNvSpPr/>
          <p:nvPr/>
        </p:nvSpPr>
        <p:spPr>
          <a:xfrm>
            <a:off x="822960" y="2606040"/>
            <a:ext cx="10515600" cy="896112"/>
          </a:xfrm>
          <a:prstGeom prst="roundRect">
            <a:avLst>
              <a:gd name="adj" fmla="val 12245"/>
            </a:avLst>
          </a:prstGeom>
          <a:solidFill>
            <a:srgbClr val="21304F"/>
          </a:solidFill>
          <a:ln/>
          <a:effectLst>
            <a:outerShdw sx="100000" sy="100000" kx="0" ky="0" algn="bl" rotWithShape="0" blurRad="177800" dist="38100" dir="5400000">
              <a:srgbClr val="0B1220">
                <a:alpha val="16000"/>
              </a:srgbClr>
            </a:outerShdw>
          </a:effectLst>
        </p:spPr>
      </p:sp>
      <p:sp>
        <p:nvSpPr>
          <p:cNvPr id="5" name="Shape 3"/>
          <p:cNvSpPr/>
          <p:nvPr/>
        </p:nvSpPr>
        <p:spPr>
          <a:xfrm>
            <a:off x="1143000" y="2779776"/>
            <a:ext cx="548640" cy="548640"/>
          </a:xfrm>
          <a:prstGeom prst="ellipse">
            <a:avLst/>
          </a:prstGeom>
          <a:solidFill>
            <a:srgbClr val="FFC24A"/>
          </a:solidFill>
          <a:ln/>
          <a:effectLst>
            <a:outerShdw sx="100000" sy="100000" kx="0" ky="0" algn="bl" rotWithShape="0" blurRad="177800" dist="38100" dir="5400000">
              <a:srgbClr val="0B1220">
                <a:alpha val="16000"/>
              </a:srgbClr>
            </a:outerShdw>
          </a:effectLst>
        </p:spPr>
      </p:sp>
      <p:sp>
        <p:nvSpPr>
          <p:cNvPr id="6" name="Text 4"/>
          <p:cNvSpPr/>
          <p:nvPr/>
        </p:nvSpPr>
        <p:spPr>
          <a:xfrm>
            <a:off x="1143000" y="2779776"/>
            <a:ext cx="548640" cy="548640"/>
          </a:xfrm>
          <a:prstGeom prst="rect">
            <a:avLst/>
          </a:prstGeom>
          <a:noFill/>
          <a:ln/>
        </p:spPr>
        <p:txBody>
          <a:bodyPr wrap="square" lIns="0" tIns="0" rIns="0" bIns="0" rtlCol="0" anchor="ctr"/>
          <a:lstStyle/>
          <a:p>
            <a:pPr algn="ctr" indent="0" marL="0">
              <a:buNone/>
            </a:pPr>
            <a:r>
              <a:rPr lang="en-US" sz="1700" b="1" dirty="0">
                <a:solidFill>
                  <a:srgbClr val="21304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1920240" y="2715768"/>
            <a:ext cx="2377440" cy="3200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Your faces</a:t>
            </a:r>
            <a:endParaRPr lang="en-US" sz="1700" dirty="0"/>
          </a:p>
        </p:txBody>
      </p:sp>
      <p:sp>
        <p:nvSpPr>
          <p:cNvPr id="8" name="Text 6"/>
          <p:cNvSpPr/>
          <p:nvPr/>
        </p:nvSpPr>
        <p:spPr>
          <a:xfrm>
            <a:off x="1920240" y="3063240"/>
            <a:ext cx="9052560" cy="320040"/>
          </a:xfrm>
          <a:prstGeom prst="rect">
            <a:avLst/>
          </a:prstGeom>
          <a:noFill/>
          <a:ln/>
        </p:spPr>
        <p:txBody>
          <a:bodyPr wrap="square" lIns="0" tIns="0" rIns="0" bIns="0" rtlCol="0" anchor="ctr"/>
          <a:lstStyle/>
          <a:p>
            <a:pPr indent="0" marL="0">
              <a:buNone/>
            </a:pPr>
            <a:r>
              <a:rPr lang="en-US" sz="1250" dirty="0">
                <a:solidFill>
                  <a:srgbClr val="9FB3D0"/>
                </a:solidFill>
                <a:latin typeface="Calibri" pitchFamily="34" charset="0"/>
                <a:ea typeface="Calibri" pitchFamily="34" charset="-122"/>
                <a:cs typeface="Calibri" pitchFamily="34" charset="-120"/>
              </a:rPr>
              <a:t>Every one of you who checked in is on that board, tagged new. Nobody typed a password.</a:t>
            </a:r>
            <a:endParaRPr lang="en-US" sz="1250" dirty="0"/>
          </a:p>
        </p:txBody>
      </p:sp>
      <p:sp>
        <p:nvSpPr>
          <p:cNvPr id="9" name="Shape 7"/>
          <p:cNvSpPr/>
          <p:nvPr/>
        </p:nvSpPr>
        <p:spPr>
          <a:xfrm>
            <a:off x="822960" y="3657600"/>
            <a:ext cx="10515600" cy="896112"/>
          </a:xfrm>
          <a:prstGeom prst="roundRect">
            <a:avLst>
              <a:gd name="adj" fmla="val 12245"/>
            </a:avLst>
          </a:prstGeom>
          <a:solidFill>
            <a:srgbClr val="21304F"/>
          </a:solidFill>
          <a:ln/>
          <a:effectLst>
            <a:outerShdw sx="100000" sy="100000" kx="0" ky="0" algn="bl" rotWithShape="0" blurRad="177800" dist="38100" dir="5400000">
              <a:srgbClr val="0B1220">
                <a:alpha val="16000"/>
              </a:srgbClr>
            </a:outerShdw>
          </a:effectLst>
        </p:spPr>
      </p:sp>
      <p:sp>
        <p:nvSpPr>
          <p:cNvPr id="10" name="Shape 8"/>
          <p:cNvSpPr/>
          <p:nvPr/>
        </p:nvSpPr>
        <p:spPr>
          <a:xfrm>
            <a:off x="1143000" y="3831336"/>
            <a:ext cx="548640" cy="548640"/>
          </a:xfrm>
          <a:prstGeom prst="ellipse">
            <a:avLst/>
          </a:prstGeom>
          <a:solidFill>
            <a:srgbClr val="FFC24A"/>
          </a:solidFill>
          <a:ln/>
          <a:effectLst>
            <a:outerShdw sx="100000" sy="100000" kx="0" ky="0" algn="bl" rotWithShape="0" blurRad="177800" dist="38100" dir="5400000">
              <a:srgbClr val="0B1220">
                <a:alpha val="16000"/>
              </a:srgbClr>
            </a:outerShdw>
          </a:effectLst>
        </p:spPr>
      </p:sp>
      <p:sp>
        <p:nvSpPr>
          <p:cNvPr id="11" name="Text 9"/>
          <p:cNvSpPr/>
          <p:nvPr/>
        </p:nvSpPr>
        <p:spPr>
          <a:xfrm>
            <a:off x="1143000" y="3831336"/>
            <a:ext cx="548640" cy="548640"/>
          </a:xfrm>
          <a:prstGeom prst="rect">
            <a:avLst/>
          </a:prstGeom>
          <a:noFill/>
          <a:ln/>
        </p:spPr>
        <p:txBody>
          <a:bodyPr wrap="square" lIns="0" tIns="0" rIns="0" bIns="0" rtlCol="0" anchor="ctr"/>
          <a:lstStyle/>
          <a:p>
            <a:pPr algn="ctr" indent="0" marL="0">
              <a:buNone/>
            </a:pPr>
            <a:r>
              <a:rPr lang="en-US" sz="1700" b="1" dirty="0">
                <a:solidFill>
                  <a:srgbClr val="21304F"/>
                </a:solidFill>
                <a:latin typeface="Cambria" pitchFamily="34" charset="0"/>
                <a:ea typeface="Cambria" pitchFamily="34" charset="-122"/>
                <a:cs typeface="Cambria" pitchFamily="34" charset="-120"/>
              </a:rPr>
              <a:t>2</a:t>
            </a:r>
            <a:endParaRPr lang="en-US" sz="1700" dirty="0"/>
          </a:p>
        </p:txBody>
      </p:sp>
      <p:sp>
        <p:nvSpPr>
          <p:cNvPr id="12" name="Text 10"/>
          <p:cNvSpPr/>
          <p:nvPr/>
        </p:nvSpPr>
        <p:spPr>
          <a:xfrm>
            <a:off x="1920240" y="3767328"/>
            <a:ext cx="2377440" cy="3200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Four signals</a:t>
            </a:r>
            <a:endParaRPr lang="en-US" sz="1700" dirty="0"/>
          </a:p>
        </p:txBody>
      </p:sp>
      <p:sp>
        <p:nvSpPr>
          <p:cNvPr id="13" name="Text 11"/>
          <p:cNvSpPr/>
          <p:nvPr/>
        </p:nvSpPr>
        <p:spPr>
          <a:xfrm>
            <a:off x="1920240" y="4114800"/>
            <a:ext cx="9052560" cy="320040"/>
          </a:xfrm>
          <a:prstGeom prst="rect">
            <a:avLst/>
          </a:prstGeom>
          <a:noFill/>
          <a:ln/>
        </p:spPr>
        <p:txBody>
          <a:bodyPr wrap="square" lIns="0" tIns="0" rIns="0" bIns="0" rtlCol="0" anchor="ctr"/>
          <a:lstStyle/>
          <a:p>
            <a:pPr indent="0" marL="0">
              <a:buNone/>
            </a:pPr>
            <a:r>
              <a:rPr lang="en-US" sz="1250" dirty="0">
                <a:solidFill>
                  <a:srgbClr val="9FB3D0"/>
                </a:solidFill>
                <a:latin typeface="Calibri" pitchFamily="34" charset="0"/>
                <a:ea typeface="Calibri" pitchFamily="34" charset="-122"/>
                <a:cs typeface="Calibri" pitchFamily="34" charset="-120"/>
              </a:rPr>
              <a:t>Isla, Cody, Aroha, Maia — flagged by four different rules, computed live from 30 days of data.</a:t>
            </a:r>
            <a:endParaRPr lang="en-US" sz="1250" dirty="0"/>
          </a:p>
        </p:txBody>
      </p:sp>
      <p:sp>
        <p:nvSpPr>
          <p:cNvPr id="14" name="Shape 12"/>
          <p:cNvSpPr/>
          <p:nvPr/>
        </p:nvSpPr>
        <p:spPr>
          <a:xfrm>
            <a:off x="822960" y="4709160"/>
            <a:ext cx="10515600" cy="896112"/>
          </a:xfrm>
          <a:prstGeom prst="roundRect">
            <a:avLst>
              <a:gd name="adj" fmla="val 12245"/>
            </a:avLst>
          </a:prstGeom>
          <a:solidFill>
            <a:srgbClr val="21304F"/>
          </a:solidFill>
          <a:ln/>
          <a:effectLst>
            <a:outerShdw sx="100000" sy="100000" kx="0" ky="0" algn="bl" rotWithShape="0" blurRad="177800" dist="38100" dir="5400000">
              <a:srgbClr val="0B1220">
                <a:alpha val="16000"/>
              </a:srgbClr>
            </a:outerShdw>
          </a:effectLst>
        </p:spPr>
      </p:sp>
      <p:sp>
        <p:nvSpPr>
          <p:cNvPr id="15" name="Shape 13"/>
          <p:cNvSpPr/>
          <p:nvPr/>
        </p:nvSpPr>
        <p:spPr>
          <a:xfrm>
            <a:off x="1143000" y="4882896"/>
            <a:ext cx="548640" cy="548640"/>
          </a:xfrm>
          <a:prstGeom prst="ellipse">
            <a:avLst/>
          </a:prstGeom>
          <a:solidFill>
            <a:srgbClr val="FFC24A"/>
          </a:solidFill>
          <a:ln/>
          <a:effectLst>
            <a:outerShdw sx="100000" sy="100000" kx="0" ky="0" algn="bl" rotWithShape="0" blurRad="177800" dist="38100" dir="5400000">
              <a:srgbClr val="0B1220">
                <a:alpha val="16000"/>
              </a:srgbClr>
            </a:outerShdw>
          </a:effectLst>
        </p:spPr>
      </p:sp>
      <p:sp>
        <p:nvSpPr>
          <p:cNvPr id="16" name="Text 14"/>
          <p:cNvSpPr/>
          <p:nvPr/>
        </p:nvSpPr>
        <p:spPr>
          <a:xfrm>
            <a:off x="1143000" y="4882896"/>
            <a:ext cx="548640" cy="548640"/>
          </a:xfrm>
          <a:prstGeom prst="rect">
            <a:avLst/>
          </a:prstGeom>
          <a:noFill/>
          <a:ln/>
        </p:spPr>
        <p:txBody>
          <a:bodyPr wrap="square" lIns="0" tIns="0" rIns="0" bIns="0" rtlCol="0" anchor="ctr"/>
          <a:lstStyle/>
          <a:p>
            <a:pPr algn="ctr" indent="0" marL="0">
              <a:buNone/>
            </a:pPr>
            <a:r>
              <a:rPr lang="en-US" sz="1700" b="1" dirty="0">
                <a:solidFill>
                  <a:srgbClr val="21304F"/>
                </a:solidFill>
                <a:latin typeface="Cambria" pitchFamily="34" charset="0"/>
                <a:ea typeface="Cambria" pitchFamily="34" charset="-122"/>
                <a:cs typeface="Cambria" pitchFamily="34" charset="-120"/>
              </a:rPr>
              <a:t>3</a:t>
            </a:r>
            <a:endParaRPr lang="en-US" sz="1700" dirty="0"/>
          </a:p>
        </p:txBody>
      </p:sp>
      <p:sp>
        <p:nvSpPr>
          <p:cNvPr id="17" name="Text 15"/>
          <p:cNvSpPr/>
          <p:nvPr/>
        </p:nvSpPr>
        <p:spPr>
          <a:xfrm>
            <a:off x="1920240" y="4818888"/>
            <a:ext cx="2377440" cy="3200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Check in again</a:t>
            </a:r>
            <a:endParaRPr lang="en-US" sz="1700" dirty="0"/>
          </a:p>
        </p:txBody>
      </p:sp>
      <p:sp>
        <p:nvSpPr>
          <p:cNvPr id="18" name="Text 16"/>
          <p:cNvSpPr/>
          <p:nvPr/>
        </p:nvSpPr>
        <p:spPr>
          <a:xfrm>
            <a:off x="1920240" y="5166360"/>
            <a:ext cx="9052560" cy="320040"/>
          </a:xfrm>
          <a:prstGeom prst="rect">
            <a:avLst/>
          </a:prstGeom>
          <a:noFill/>
          <a:ln/>
        </p:spPr>
        <p:txBody>
          <a:bodyPr wrap="square" lIns="0" tIns="0" rIns="0" bIns="0" rtlCol="0" anchor="ctr"/>
          <a:lstStyle/>
          <a:p>
            <a:pPr indent="0" marL="0">
              <a:buNone/>
            </a:pPr>
            <a:r>
              <a:rPr lang="en-US" sz="1250" dirty="0">
                <a:solidFill>
                  <a:srgbClr val="9FB3D0"/>
                </a:solidFill>
                <a:latin typeface="Calibri" pitchFamily="34" charset="0"/>
                <a:ea typeface="Calibri" pitchFamily="34" charset="-122"/>
                <a:cs typeface="Calibri" pitchFamily="34" charset="-120"/>
              </a:rPr>
              <a:t>Watch the board change while you look at it. Nothing here is pre-recorded.</a:t>
            </a:r>
            <a:endParaRPr lang="en-US" sz="1250" dirty="0"/>
          </a:p>
        </p:txBody>
      </p:sp>
      <p:sp>
        <p:nvSpPr>
          <p:cNvPr id="19" name="Text 17"/>
          <p:cNvSpPr/>
          <p:nvPr/>
        </p:nvSpPr>
        <p:spPr>
          <a:xfrm>
            <a:off x="822960" y="5742432"/>
            <a:ext cx="10515600" cy="301752"/>
          </a:xfrm>
          <a:prstGeom prst="rect">
            <a:avLst/>
          </a:prstGeom>
          <a:noFill/>
          <a:ln/>
        </p:spPr>
        <p:txBody>
          <a:bodyPr wrap="square" lIns="0" tIns="0" rIns="0" bIns="0" rtlCol="0" anchor="ctr"/>
          <a:lstStyle/>
          <a:p>
            <a:pPr indent="0" marL="0">
              <a:buNone/>
            </a:pPr>
            <a:r>
              <a:rPr lang="en-US" sz="1100" i="1" dirty="0">
                <a:solidFill>
                  <a:srgbClr val="6B84AB"/>
                </a:solidFill>
                <a:latin typeface="Calibri" pitchFamily="34" charset="0"/>
                <a:ea typeface="Calibri" pitchFamily="34" charset="-122"/>
                <a:cs typeface="Calibri" pitchFamily="34" charset="-120"/>
              </a:rPr>
              <a:t>This slide is a safety net. If the network fails, the offline build has the same class and the same four signals.</a:t>
            </a:r>
            <a:endParaRPr lang="en-US" sz="1100" dirty="0"/>
          </a:p>
        </p:txBody>
      </p:sp>
      <p:sp>
        <p:nvSpPr>
          <p:cNvPr id="20" name="Text 18"/>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84AB"/>
                </a:solidFill>
                <a:latin typeface="Calibri" pitchFamily="34" charset="0"/>
                <a:ea typeface="Calibri" pitchFamily="34" charset="-122"/>
                <a:cs typeface="Calibri" pitchFamily="34" charset="-120"/>
              </a:rPr>
              <a:t>Live demonstration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1371600"/>
            <a:ext cx="6858000" cy="1920240"/>
          </a:xfrm>
          <a:prstGeom prst="rect">
            <a:avLst/>
          </a:prstGeom>
          <a:noFill/>
          <a:ln/>
        </p:spPr>
        <p:txBody>
          <a:bodyPr wrap="square" lIns="0" tIns="0" rIns="0" bIns="0" rtlCol="0" anchor="ctr"/>
          <a:lstStyle/>
          <a:p>
            <a:pPr indent="0" marL="0">
              <a:lnSpc>
                <a:spcPts val="5000"/>
              </a:lnSpc>
              <a:buNone/>
            </a:pPr>
            <a:r>
              <a:rPr lang="en-US" sz="4000" b="1" dirty="0">
                <a:solidFill>
                  <a:srgbClr val="1F2A37"/>
                </a:solidFill>
                <a:latin typeface="Cambria" pitchFamily="34" charset="0"/>
                <a:ea typeface="Cambria" pitchFamily="34" charset="-122"/>
                <a:cs typeface="Cambria" pitchFamily="34" charset="-120"/>
              </a:rPr>
              <a:t>“How do you know</a:t>
            </a:r>
            <a:endParaRPr lang="en-US" sz="4000" dirty="0"/>
          </a:p>
          <a:p>
            <a:pPr indent="0" marL="0">
              <a:lnSpc>
                <a:spcPts val="5000"/>
              </a:lnSpc>
              <a:buNone/>
            </a:pPr>
            <a:r>
              <a:rPr lang="en-US" sz="4000" b="1" dirty="0">
                <a:solidFill>
                  <a:srgbClr val="1F2A37"/>
                </a:solidFill>
                <a:latin typeface="Cambria" pitchFamily="34" charset="0"/>
                <a:ea typeface="Cambria" pitchFamily="34" charset="-122"/>
                <a:cs typeface="Cambria" pitchFamily="34" charset="-120"/>
              </a:rPr>
              <a:t>the child is sad?”</a:t>
            </a:r>
            <a:endParaRPr lang="en-US" sz="4000" dirty="0"/>
          </a:p>
        </p:txBody>
      </p:sp>
      <p:sp>
        <p:nvSpPr>
          <p:cNvPr id="3" name="Text 1"/>
          <p:cNvSpPr/>
          <p:nvPr/>
        </p:nvSpPr>
        <p:spPr>
          <a:xfrm>
            <a:off x="868680" y="3520440"/>
            <a:ext cx="6858000" cy="685800"/>
          </a:xfrm>
          <a:prstGeom prst="rect">
            <a:avLst/>
          </a:prstGeom>
          <a:noFill/>
          <a:ln/>
        </p:spPr>
        <p:txBody>
          <a:bodyPr wrap="square" lIns="0" tIns="0" rIns="0" bIns="0" rtlCol="0" anchor="ctr"/>
          <a:lstStyle/>
          <a:p>
            <a:pPr indent="0" marL="0">
              <a:buNone/>
            </a:pPr>
            <a:r>
              <a:rPr lang="en-US" sz="3800" b="1" dirty="0">
                <a:solidFill>
                  <a:srgbClr val="5B8DEF"/>
                </a:solidFill>
                <a:latin typeface="Cambria" pitchFamily="34" charset="0"/>
                <a:ea typeface="Cambria" pitchFamily="34" charset="-122"/>
                <a:cs typeface="Cambria" pitchFamily="34" charset="-120"/>
              </a:rPr>
              <a:t>We don't.</a:t>
            </a:r>
            <a:endParaRPr lang="en-US" sz="3800" dirty="0"/>
          </a:p>
        </p:txBody>
      </p:sp>
      <p:sp>
        <p:nvSpPr>
          <p:cNvPr id="4" name="Text 2"/>
          <p:cNvSpPr/>
          <p:nvPr/>
        </p:nvSpPr>
        <p:spPr>
          <a:xfrm>
            <a:off x="868680" y="4279392"/>
            <a:ext cx="6858000" cy="457200"/>
          </a:xfrm>
          <a:prstGeom prst="rect">
            <a:avLst/>
          </a:prstGeom>
          <a:noFill/>
          <a:ln/>
        </p:spPr>
        <p:txBody>
          <a:bodyPr wrap="square" lIns="0" tIns="0" rIns="0" bIns="0" rtlCol="0" anchor="ctr"/>
          <a:lstStyle/>
          <a:p>
            <a:pPr indent="0" marL="0">
              <a:buNone/>
            </a:pPr>
            <a:r>
              <a:rPr lang="en-US" sz="1600" dirty="0">
                <a:solidFill>
                  <a:srgbClr val="6B7B92"/>
                </a:solidFill>
                <a:latin typeface="Calibri" pitchFamily="34" charset="0"/>
                <a:ea typeface="Calibri" pitchFamily="34" charset="-122"/>
                <a:cs typeface="Calibri" pitchFamily="34" charset="-120"/>
              </a:rPr>
              <a:t>And Sunny says so, on screen, every single time.</a:t>
            </a:r>
            <a:endParaRPr lang="en-US" sz="1600" dirty="0"/>
          </a:p>
        </p:txBody>
      </p:sp>
      <p:sp>
        <p:nvSpPr>
          <p:cNvPr id="5" name="Shape 3"/>
          <p:cNvSpPr/>
          <p:nvPr/>
        </p:nvSpPr>
        <p:spPr>
          <a:xfrm>
            <a:off x="7955280" y="1554480"/>
            <a:ext cx="3520440" cy="3566160"/>
          </a:xfrm>
          <a:prstGeom prst="roundRect">
            <a:avLst>
              <a:gd name="adj" fmla="val 3117"/>
            </a:avLst>
          </a:prstGeom>
          <a:solidFill>
            <a:srgbClr val="21304F"/>
          </a:solidFill>
          <a:ln/>
          <a:effectLst>
            <a:outerShdw sx="100000" sy="100000" kx="0" ky="0" algn="bl" rotWithShape="0" blurRad="177800" dist="38100" dir="5400000">
              <a:srgbClr val="0B1220">
                <a:alpha val="16000"/>
              </a:srgbClr>
            </a:outerShdw>
          </a:effectLst>
        </p:spPr>
      </p:sp>
      <p:sp>
        <p:nvSpPr>
          <p:cNvPr id="6" name="Text 4"/>
          <p:cNvSpPr/>
          <p:nvPr/>
        </p:nvSpPr>
        <p:spPr>
          <a:xfrm>
            <a:off x="8275320" y="1874520"/>
            <a:ext cx="2926080" cy="320040"/>
          </a:xfrm>
          <a:prstGeom prst="rect">
            <a:avLst/>
          </a:prstGeom>
          <a:noFill/>
          <a:ln/>
        </p:spPr>
        <p:txBody>
          <a:bodyPr wrap="square" lIns="0" tIns="0" rIns="0" bIns="0" rtlCol="0" anchor="ctr"/>
          <a:lstStyle/>
          <a:p>
            <a:pPr indent="0" marL="0">
              <a:buNone/>
            </a:pPr>
            <a:r>
              <a:rPr lang="en-US" sz="1100" b="1" dirty="0">
                <a:solidFill>
                  <a:srgbClr val="FFC24A"/>
                </a:solidFill>
                <a:latin typeface="Calibri" pitchFamily="34" charset="0"/>
                <a:ea typeface="Calibri" pitchFamily="34" charset="-122"/>
                <a:cs typeface="Calibri" pitchFamily="34" charset="-120"/>
              </a:rPr>
              <a:t>What Sunny actually detects</a:t>
            </a:r>
            <a:endParaRPr lang="en-US" sz="1100" dirty="0"/>
          </a:p>
        </p:txBody>
      </p:sp>
      <p:sp>
        <p:nvSpPr>
          <p:cNvPr id="7" name="Text 5"/>
          <p:cNvSpPr/>
          <p:nvPr/>
        </p:nvSpPr>
        <p:spPr>
          <a:xfrm>
            <a:off x="8275320" y="2331720"/>
            <a:ext cx="2926080" cy="1051560"/>
          </a:xfrm>
          <a:prstGeom prst="rect">
            <a:avLst/>
          </a:prstGeom>
          <a:noFill/>
          <a:ln/>
        </p:spPr>
        <p:txBody>
          <a:bodyPr wrap="square" lIns="0" tIns="0" rIns="0" bIns="0" rtlCol="0" anchor="ctr"/>
          <a:lstStyle/>
          <a:p>
            <a:pPr indent="0" marL="0">
              <a:lnSpc>
                <a:spcPts val="2400"/>
              </a:lnSpc>
              <a:buNone/>
            </a:pPr>
            <a:r>
              <a:rPr lang="en-US" sz="1600" dirty="0">
                <a:solidFill>
                  <a:srgbClr val="FFFFFF"/>
                </a:solidFill>
                <a:latin typeface="Cambria" pitchFamily="34" charset="0"/>
                <a:ea typeface="Cambria" pitchFamily="34" charset="-122"/>
                <a:cs typeface="Cambria" pitchFamily="34" charset="-120"/>
              </a:rPr>
              <a:t>A number a child chose</a:t>
            </a:r>
            <a:endParaRPr lang="en-US" sz="1600" dirty="0"/>
          </a:p>
          <a:p>
            <a:pPr indent="0" marL="0">
              <a:lnSpc>
                <a:spcPts val="2400"/>
              </a:lnSpc>
              <a:buNone/>
            </a:pPr>
            <a:r>
              <a:rPr lang="en-US" sz="1600" dirty="0">
                <a:solidFill>
                  <a:srgbClr val="FFFFFF"/>
                </a:solidFill>
                <a:latin typeface="Cambria" pitchFamily="34" charset="0"/>
                <a:ea typeface="Cambria" pitchFamily="34" charset="-122"/>
                <a:cs typeface="Cambria" pitchFamily="34" charset="-120"/>
              </a:rPr>
              <a:t>for themselves has moved</a:t>
            </a:r>
            <a:endParaRPr lang="en-US" sz="1600" dirty="0"/>
          </a:p>
          <a:p>
            <a:pPr indent="0" marL="0">
              <a:lnSpc>
                <a:spcPts val="2400"/>
              </a:lnSpc>
              <a:buNone/>
            </a:pPr>
            <a:r>
              <a:rPr lang="en-US" sz="1600" dirty="0">
                <a:solidFill>
                  <a:srgbClr val="FFFFFF"/>
                </a:solidFill>
                <a:latin typeface="Cambria" pitchFamily="34" charset="0"/>
                <a:ea typeface="Cambria" pitchFamily="34" charset="-122"/>
                <a:cs typeface="Cambria" pitchFamily="34" charset="-120"/>
              </a:rPr>
              <a:t>away from their own normal.</a:t>
            </a:r>
            <a:endParaRPr lang="en-US" sz="1600" dirty="0"/>
          </a:p>
        </p:txBody>
      </p:sp>
      <p:sp>
        <p:nvSpPr>
          <p:cNvPr id="8" name="Shape 6"/>
          <p:cNvSpPr/>
          <p:nvPr/>
        </p:nvSpPr>
        <p:spPr>
          <a:xfrm>
            <a:off x="8275320" y="3520440"/>
            <a:ext cx="2880360" cy="0"/>
          </a:xfrm>
          <a:prstGeom prst="line">
            <a:avLst/>
          </a:prstGeom>
          <a:noFill/>
          <a:ln w="12700">
            <a:solidFill>
              <a:srgbClr val="3B5480"/>
            </a:solidFill>
            <a:prstDash val="solid"/>
          </a:ln>
        </p:spPr>
      </p:sp>
      <p:sp>
        <p:nvSpPr>
          <p:cNvPr id="9" name="Text 7"/>
          <p:cNvSpPr/>
          <p:nvPr/>
        </p:nvSpPr>
        <p:spPr>
          <a:xfrm>
            <a:off x="8275320" y="3703320"/>
            <a:ext cx="2926080" cy="1005840"/>
          </a:xfrm>
          <a:prstGeom prst="rect">
            <a:avLst/>
          </a:prstGeom>
          <a:noFill/>
          <a:ln/>
        </p:spPr>
        <p:txBody>
          <a:bodyPr wrap="square" lIns="0" tIns="0" rIns="0" bIns="0" rtlCol="0" anchor="ctr"/>
          <a:lstStyle/>
          <a:p>
            <a:pPr indent="0" marL="0">
              <a:lnSpc>
                <a:spcPts val="2000"/>
              </a:lnSpc>
              <a:buNone/>
            </a:pPr>
            <a:r>
              <a:rPr lang="en-US" sz="1250" dirty="0">
                <a:solidFill>
                  <a:srgbClr val="9FB3D0"/>
                </a:solidFill>
                <a:latin typeface="Calibri" pitchFamily="34" charset="0"/>
                <a:ea typeface="Calibri" pitchFamily="34" charset="-122"/>
                <a:cs typeface="Calibri" pitchFamily="34" charset="-120"/>
              </a:rPr>
              <a:t>That is the entire claim.</a:t>
            </a:r>
            <a:endParaRPr lang="en-US" sz="1250" dirty="0"/>
          </a:p>
          <a:p>
            <a:pPr indent="0" marL="0">
              <a:lnSpc>
                <a:spcPts val="2000"/>
              </a:lnSpc>
              <a:buNone/>
            </a:pPr>
            <a:r>
              <a:rPr lang="en-US" sz="1250" dirty="0">
                <a:solidFill>
                  <a:srgbClr val="9FB3D0"/>
                </a:solidFill>
                <a:latin typeface="Calibri" pitchFamily="34" charset="0"/>
                <a:ea typeface="Calibri" pitchFamily="34" charset="-122"/>
                <a:cs typeface="Calibri" pitchFamily="34" charset="-120"/>
              </a:rPr>
              <a:t>Nothing about feelings.</a:t>
            </a:r>
            <a:endParaRPr lang="en-US" sz="1250" dirty="0"/>
          </a:p>
          <a:p>
            <a:pPr indent="0" marL="0">
              <a:lnSpc>
                <a:spcPts val="2000"/>
              </a:lnSpc>
              <a:buNone/>
            </a:pPr>
            <a:r>
              <a:rPr lang="en-US" sz="1250" dirty="0">
                <a:solidFill>
                  <a:srgbClr val="9FB3D0"/>
                </a:solidFill>
                <a:latin typeface="Calibri" pitchFamily="34" charset="0"/>
                <a:ea typeface="Calibri" pitchFamily="34" charset="-122"/>
                <a:cs typeface="Calibri" pitchFamily="34" charset="-120"/>
              </a:rPr>
              <a:t>Nothing about why.</a:t>
            </a:r>
            <a:endParaRPr lang="en-US" sz="1250" dirty="0"/>
          </a:p>
        </p:txBody>
      </p:sp>
      <p:sp>
        <p:nvSpPr>
          <p:cNvPr id="10" name="Text 8"/>
          <p:cNvSpPr/>
          <p:nvPr/>
        </p:nvSpPr>
        <p:spPr>
          <a:xfrm>
            <a:off x="822960" y="5394960"/>
            <a:ext cx="10515600" cy="365760"/>
          </a:xfrm>
          <a:prstGeom prst="rect">
            <a:avLst/>
          </a:prstGeom>
          <a:noFill/>
          <a:ln/>
        </p:spPr>
        <p:txBody>
          <a:bodyPr wrap="square" lIns="0" tIns="0" rIns="0" bIns="0" rtlCol="0" anchor="ctr"/>
          <a:lstStyle/>
          <a:p>
            <a:pPr indent="0" marL="0">
              <a:buNone/>
            </a:pPr>
            <a:r>
              <a:rPr lang="en-US" sz="1300" i="1" dirty="0">
                <a:solidFill>
                  <a:srgbClr val="6B7B92"/>
                </a:solidFill>
                <a:latin typeface="Calibri" pitchFamily="34" charset="0"/>
                <a:ea typeface="Calibri" pitchFamily="34" charset="-122"/>
                <a:cs typeface="Calibri" pitchFamily="34" charset="-120"/>
              </a:rPr>
              <a:t>A judge asked us this yesterday. Rebuilding the answer became the product.</a:t>
            </a:r>
            <a:endParaRPr lang="en-US" sz="1300" dirty="0"/>
          </a:p>
        </p:txBody>
      </p:sp>
      <p:sp>
        <p:nvSpPr>
          <p:cNvPr id="11" name="Text 9"/>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7B92"/>
                </a:solidFill>
                <a:latin typeface="Calibri" pitchFamily="34" charset="0"/>
                <a:ea typeface="Calibri" pitchFamily="34" charset="-122"/>
                <a:cs typeface="Calibri" pitchFamily="34" charset="-120"/>
              </a:rPr>
              <a:t>The question every judge asks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85800" y="457200"/>
            <a:ext cx="10789920" cy="777240"/>
          </a:xfrm>
          <a:prstGeom prst="rect">
            <a:avLst/>
          </a:prstGeom>
          <a:noFill/>
          <a:ln/>
        </p:spPr>
        <p:txBody>
          <a:bodyPr wrap="square" lIns="0" tIns="0" rIns="0" bIns="0" rtlCol="0" anchor="ctr"/>
          <a:lstStyle/>
          <a:p>
            <a:pPr indent="0" marL="0">
              <a:buNone/>
            </a:pPr>
            <a:r>
              <a:rPr lang="en-US" sz="3600" b="1" dirty="0">
                <a:solidFill>
                  <a:srgbClr val="1F2A37"/>
                </a:solidFill>
                <a:latin typeface="Cambria" pitchFamily="34" charset="0"/>
                <a:ea typeface="Cambria" pitchFamily="34" charset="-122"/>
                <a:cs typeface="Cambria" pitchFamily="34" charset="-120"/>
              </a:rPr>
              <a:t>How a signal is produced</a:t>
            </a:r>
            <a:endParaRPr lang="en-US" sz="3600" dirty="0"/>
          </a:p>
        </p:txBody>
      </p:sp>
      <p:sp>
        <p:nvSpPr>
          <p:cNvPr id="3" name="Text 1"/>
          <p:cNvSpPr/>
          <p:nvPr/>
        </p:nvSpPr>
        <p:spPr>
          <a:xfrm>
            <a:off x="685800" y="1197864"/>
            <a:ext cx="10789920" cy="384048"/>
          </a:xfrm>
          <a:prstGeom prst="rect">
            <a:avLst/>
          </a:prstGeom>
          <a:noFill/>
          <a:ln/>
        </p:spPr>
        <p:txBody>
          <a:bodyPr wrap="square" lIns="0" tIns="0" rIns="0" bIns="0" rtlCol="0" anchor="ctr"/>
          <a:lstStyle/>
          <a:p>
            <a:pPr indent="0" marL="0">
              <a:buNone/>
            </a:pPr>
            <a:r>
              <a:rPr lang="en-US" sz="1500" dirty="0">
                <a:solidFill>
                  <a:srgbClr val="6B7B92"/>
                </a:solidFill>
                <a:latin typeface="Calibri" pitchFamily="34" charset="0"/>
                <a:ea typeface="Calibri" pitchFamily="34" charset="-122"/>
                <a:cs typeface="Calibri" pitchFamily="34" charset="-120"/>
              </a:rPr>
              <a:t>Detection is arithmetic. AI only writes the wording. The two are never mixed.</a:t>
            </a:r>
            <a:endParaRPr lang="en-US" sz="1500" dirty="0"/>
          </a:p>
        </p:txBody>
      </p:sp>
      <p:sp>
        <p:nvSpPr>
          <p:cNvPr id="4" name="Shape 2"/>
          <p:cNvSpPr/>
          <p:nvPr/>
        </p:nvSpPr>
        <p:spPr>
          <a:xfrm>
            <a:off x="685800" y="2011680"/>
            <a:ext cx="2542032" cy="2743200"/>
          </a:xfrm>
          <a:prstGeom prst="roundRect">
            <a:avLst>
              <a:gd name="adj" fmla="val 4317"/>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5" name="Shape 3"/>
          <p:cNvSpPr/>
          <p:nvPr/>
        </p:nvSpPr>
        <p:spPr>
          <a:xfrm>
            <a:off x="960120" y="2286000"/>
            <a:ext cx="475488" cy="475488"/>
          </a:xfrm>
          <a:prstGeom prst="ellipse">
            <a:avLst/>
          </a:prstGeom>
          <a:solidFill>
            <a:srgbClr val="5B8DEF"/>
          </a:solidFill>
          <a:ln/>
          <a:effectLst>
            <a:outerShdw sx="100000" sy="100000" kx="0" ky="0" algn="bl" rotWithShape="0" blurRad="177800" dist="38100" dir="5400000">
              <a:srgbClr val="0B1220">
                <a:alpha val="16000"/>
              </a:srgbClr>
            </a:outerShdw>
          </a:effectLst>
        </p:spPr>
      </p:sp>
      <p:sp>
        <p:nvSpPr>
          <p:cNvPr id="6" name="Text 4"/>
          <p:cNvSpPr/>
          <p:nvPr/>
        </p:nvSpPr>
        <p:spPr>
          <a:xfrm>
            <a:off x="960120" y="228600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960120" y="2880360"/>
            <a:ext cx="2011680" cy="320040"/>
          </a:xfrm>
          <a:prstGeom prst="rect">
            <a:avLst/>
          </a:prstGeom>
          <a:noFill/>
          <a:ln/>
        </p:spPr>
        <p:txBody>
          <a:bodyPr wrap="square" lIns="0" tIns="0" rIns="0" bIns="0" rtlCol="0" anchor="ctr"/>
          <a:lstStyle/>
          <a:p>
            <a:pPr indent="0" marL="0">
              <a:buNone/>
            </a:pPr>
            <a:r>
              <a:rPr lang="en-US" sz="1700" b="1" dirty="0">
                <a:solidFill>
                  <a:srgbClr val="1F2A37"/>
                </a:solidFill>
                <a:latin typeface="Cambria" pitchFamily="34" charset="0"/>
                <a:ea typeface="Cambria" pitchFamily="34" charset="-122"/>
                <a:cs typeface="Cambria" pitchFamily="34" charset="-120"/>
              </a:rPr>
              <a:t>Input</a:t>
            </a:r>
            <a:endParaRPr lang="en-US" sz="1700" dirty="0"/>
          </a:p>
        </p:txBody>
      </p:sp>
      <p:sp>
        <p:nvSpPr>
          <p:cNvPr id="8" name="Text 6"/>
          <p:cNvSpPr/>
          <p:nvPr/>
        </p:nvSpPr>
        <p:spPr>
          <a:xfrm>
            <a:off x="960120" y="3273552"/>
            <a:ext cx="2011680" cy="1005840"/>
          </a:xfrm>
          <a:prstGeom prst="rect">
            <a:avLst/>
          </a:prstGeom>
          <a:noFill/>
          <a:ln/>
        </p:spPr>
        <p:txBody>
          <a:bodyPr wrap="square" lIns="0" tIns="0" rIns="0" bIns="0" rtlCol="0" anchor="ctr"/>
          <a:lstStyle/>
          <a:p>
            <a:pPr indent="0" marL="0">
              <a:lnSpc>
                <a:spcPts val="1700"/>
              </a:lnSpc>
              <a:buNone/>
            </a:pPr>
            <a:r>
              <a:rPr lang="en-US" sz="1150" dirty="0">
                <a:solidFill>
                  <a:srgbClr val="6B7B92"/>
                </a:solidFill>
                <a:latin typeface="Calibri" pitchFamily="34" charset="0"/>
                <a:ea typeface="Calibri" pitchFamily="34" charset="-122"/>
                <a:cs typeface="Calibri" pitchFamily="34" charset="-120"/>
              </a:rPr>
              <a:t>This child's 30 school days, and their own median.</a:t>
            </a:r>
            <a:endParaRPr lang="en-US" sz="1150" dirty="0"/>
          </a:p>
        </p:txBody>
      </p:sp>
      <p:sp>
        <p:nvSpPr>
          <p:cNvPr id="9" name="Text 7"/>
          <p:cNvSpPr/>
          <p:nvPr/>
        </p:nvSpPr>
        <p:spPr>
          <a:xfrm>
            <a:off x="960120" y="4315968"/>
            <a:ext cx="2011680" cy="274320"/>
          </a:xfrm>
          <a:prstGeom prst="rect">
            <a:avLst/>
          </a:prstGeom>
          <a:noFill/>
          <a:ln/>
        </p:spPr>
        <p:txBody>
          <a:bodyPr wrap="square" lIns="0" tIns="0" rIns="0" bIns="0" rtlCol="0" anchor="ctr"/>
          <a:lstStyle/>
          <a:p>
            <a:pPr indent="0" marL="0">
              <a:buNone/>
            </a:pPr>
            <a:r>
              <a:rPr lang="en-US" sz="1100" b="1" dirty="0">
                <a:solidFill>
                  <a:srgbClr val="3BB27A"/>
                </a:solidFill>
                <a:latin typeface="Calibri" pitchFamily="34" charset="0"/>
                <a:ea typeface="Calibri" pitchFamily="34" charset="-122"/>
                <a:cs typeface="Calibri" pitchFamily="34" charset="-120"/>
              </a:rPr>
              <a:t>No AI</a:t>
            </a:r>
            <a:endParaRPr lang="en-US" sz="1100" dirty="0"/>
          </a:p>
        </p:txBody>
      </p:sp>
      <p:sp>
        <p:nvSpPr>
          <p:cNvPr id="10" name="Text 8"/>
          <p:cNvSpPr/>
          <p:nvPr/>
        </p:nvSpPr>
        <p:spPr>
          <a:xfrm>
            <a:off x="3227832" y="3108960"/>
            <a:ext cx="228600" cy="365760"/>
          </a:xfrm>
          <a:prstGeom prst="rect">
            <a:avLst/>
          </a:prstGeom>
          <a:noFill/>
          <a:ln/>
        </p:spPr>
        <p:txBody>
          <a:bodyPr wrap="square" lIns="0" tIns="0" rIns="0" bIns="0" rtlCol="0" anchor="ctr"/>
          <a:lstStyle/>
          <a:p>
            <a:pPr algn="ctr" indent="0" marL="0">
              <a:buNone/>
            </a:pPr>
            <a:r>
              <a:rPr lang="en-US" sz="2200" dirty="0">
                <a:solidFill>
                  <a:srgbClr val="B9C4D4"/>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3456432" y="2011680"/>
            <a:ext cx="2542032" cy="2743200"/>
          </a:xfrm>
          <a:prstGeom prst="roundRect">
            <a:avLst>
              <a:gd name="adj" fmla="val 4317"/>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2" name="Shape 10"/>
          <p:cNvSpPr/>
          <p:nvPr/>
        </p:nvSpPr>
        <p:spPr>
          <a:xfrm>
            <a:off x="3730752" y="2286000"/>
            <a:ext cx="475488" cy="475488"/>
          </a:xfrm>
          <a:prstGeom prst="ellipse">
            <a:avLst/>
          </a:prstGeom>
          <a:solidFill>
            <a:srgbClr val="21304F"/>
          </a:solidFill>
          <a:ln/>
          <a:effectLst>
            <a:outerShdw sx="100000" sy="100000" kx="0" ky="0" algn="bl" rotWithShape="0" blurRad="177800" dist="38100" dir="5400000">
              <a:srgbClr val="0B1220">
                <a:alpha val="16000"/>
              </a:srgbClr>
            </a:outerShdw>
          </a:effectLst>
        </p:spPr>
      </p:sp>
      <p:sp>
        <p:nvSpPr>
          <p:cNvPr id="13" name="Text 11"/>
          <p:cNvSpPr/>
          <p:nvPr/>
        </p:nvSpPr>
        <p:spPr>
          <a:xfrm>
            <a:off x="3730752" y="228600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4" name="Text 12"/>
          <p:cNvSpPr/>
          <p:nvPr/>
        </p:nvSpPr>
        <p:spPr>
          <a:xfrm>
            <a:off x="3730752" y="2880360"/>
            <a:ext cx="2011680" cy="320040"/>
          </a:xfrm>
          <a:prstGeom prst="rect">
            <a:avLst/>
          </a:prstGeom>
          <a:noFill/>
          <a:ln/>
        </p:spPr>
        <p:txBody>
          <a:bodyPr wrap="square" lIns="0" tIns="0" rIns="0" bIns="0" rtlCol="0" anchor="ctr"/>
          <a:lstStyle/>
          <a:p>
            <a:pPr indent="0" marL="0">
              <a:buNone/>
            </a:pPr>
            <a:r>
              <a:rPr lang="en-US" sz="1700" b="1" dirty="0">
                <a:solidFill>
                  <a:srgbClr val="1F2A37"/>
                </a:solidFill>
                <a:latin typeface="Cambria" pitchFamily="34" charset="0"/>
                <a:ea typeface="Cambria" pitchFamily="34" charset="-122"/>
                <a:cs typeface="Cambria" pitchFamily="34" charset="-120"/>
              </a:rPr>
              <a:t>Detection</a:t>
            </a:r>
            <a:endParaRPr lang="en-US" sz="1700" dirty="0"/>
          </a:p>
        </p:txBody>
      </p:sp>
      <p:sp>
        <p:nvSpPr>
          <p:cNvPr id="15" name="Text 13"/>
          <p:cNvSpPr/>
          <p:nvPr/>
        </p:nvSpPr>
        <p:spPr>
          <a:xfrm>
            <a:off x="3730752" y="3273552"/>
            <a:ext cx="2011680" cy="1005840"/>
          </a:xfrm>
          <a:prstGeom prst="rect">
            <a:avLst/>
          </a:prstGeom>
          <a:noFill/>
          <a:ln/>
        </p:spPr>
        <p:txBody>
          <a:bodyPr wrap="square" lIns="0" tIns="0" rIns="0" bIns="0" rtlCol="0" anchor="ctr"/>
          <a:lstStyle/>
          <a:p>
            <a:pPr indent="0" marL="0">
              <a:lnSpc>
                <a:spcPts val="1700"/>
              </a:lnSpc>
              <a:buNone/>
            </a:pPr>
            <a:r>
              <a:rPr lang="en-US" sz="1150" dirty="0">
                <a:solidFill>
                  <a:srgbClr val="6B7B92"/>
                </a:solidFill>
                <a:latin typeface="Calibri" pitchFamily="34" charset="0"/>
                <a:ea typeface="Calibri" pitchFamily="34" charset="-122"/>
                <a:cs typeface="Calibri" pitchFamily="34" charset="-120"/>
              </a:rPr>
              <a:t>Four fixed arithmetic rules. Deterministic and auditable.</a:t>
            </a:r>
            <a:endParaRPr lang="en-US" sz="1150" dirty="0"/>
          </a:p>
        </p:txBody>
      </p:sp>
      <p:sp>
        <p:nvSpPr>
          <p:cNvPr id="16" name="Text 14"/>
          <p:cNvSpPr/>
          <p:nvPr/>
        </p:nvSpPr>
        <p:spPr>
          <a:xfrm>
            <a:off x="3730752" y="4315968"/>
            <a:ext cx="2011680" cy="274320"/>
          </a:xfrm>
          <a:prstGeom prst="rect">
            <a:avLst/>
          </a:prstGeom>
          <a:noFill/>
          <a:ln/>
        </p:spPr>
        <p:txBody>
          <a:bodyPr wrap="square" lIns="0" tIns="0" rIns="0" bIns="0" rtlCol="0" anchor="ctr"/>
          <a:lstStyle/>
          <a:p>
            <a:pPr indent="0" marL="0">
              <a:buNone/>
            </a:pPr>
            <a:r>
              <a:rPr lang="en-US" sz="1100" b="1" dirty="0">
                <a:solidFill>
                  <a:srgbClr val="3BB27A"/>
                </a:solidFill>
                <a:latin typeface="Calibri" pitchFamily="34" charset="0"/>
                <a:ea typeface="Calibri" pitchFamily="34" charset="-122"/>
                <a:cs typeface="Calibri" pitchFamily="34" charset="-120"/>
              </a:rPr>
              <a:t>No AI</a:t>
            </a:r>
            <a:endParaRPr lang="en-US" sz="1100" dirty="0"/>
          </a:p>
        </p:txBody>
      </p:sp>
      <p:sp>
        <p:nvSpPr>
          <p:cNvPr id="17" name="Text 15"/>
          <p:cNvSpPr/>
          <p:nvPr/>
        </p:nvSpPr>
        <p:spPr>
          <a:xfrm>
            <a:off x="5998464" y="3108960"/>
            <a:ext cx="228600" cy="365760"/>
          </a:xfrm>
          <a:prstGeom prst="rect">
            <a:avLst/>
          </a:prstGeom>
          <a:noFill/>
          <a:ln/>
        </p:spPr>
        <p:txBody>
          <a:bodyPr wrap="square" lIns="0" tIns="0" rIns="0" bIns="0" rtlCol="0" anchor="ctr"/>
          <a:lstStyle/>
          <a:p>
            <a:pPr algn="ctr" indent="0" marL="0">
              <a:buNone/>
            </a:pPr>
            <a:r>
              <a:rPr lang="en-US" sz="2200" dirty="0">
                <a:solidFill>
                  <a:srgbClr val="B9C4D4"/>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6227064" y="2011680"/>
            <a:ext cx="2542032" cy="2743200"/>
          </a:xfrm>
          <a:prstGeom prst="roundRect">
            <a:avLst>
              <a:gd name="adj" fmla="val 4317"/>
            </a:avLst>
          </a:prstGeom>
          <a:solidFill>
            <a:srgbClr val="E8F0FE"/>
          </a:solidFill>
          <a:ln w="12700">
            <a:solidFill>
              <a:srgbClr val="FFC24A"/>
            </a:solidFill>
            <a:prstDash val="solid"/>
          </a:ln>
          <a:effectLst>
            <a:outerShdw sx="100000" sy="100000" kx="0" ky="0" algn="bl" rotWithShape="0" blurRad="177800" dist="38100" dir="5400000">
              <a:srgbClr val="0B1220">
                <a:alpha val="16000"/>
              </a:srgbClr>
            </a:outerShdw>
          </a:effectLst>
        </p:spPr>
      </p:sp>
      <p:sp>
        <p:nvSpPr>
          <p:cNvPr id="19" name="Shape 17"/>
          <p:cNvSpPr/>
          <p:nvPr/>
        </p:nvSpPr>
        <p:spPr>
          <a:xfrm>
            <a:off x="6501384" y="2286000"/>
            <a:ext cx="475488" cy="475488"/>
          </a:xfrm>
          <a:prstGeom prst="ellipse">
            <a:avLst/>
          </a:prstGeom>
          <a:solidFill>
            <a:srgbClr val="FFC24A"/>
          </a:solidFill>
          <a:ln/>
          <a:effectLst>
            <a:outerShdw sx="100000" sy="100000" kx="0" ky="0" algn="bl" rotWithShape="0" blurRad="177800" dist="38100" dir="5400000">
              <a:srgbClr val="0B1220">
                <a:alpha val="16000"/>
              </a:srgbClr>
            </a:outerShdw>
          </a:effectLst>
        </p:spPr>
      </p:sp>
      <p:sp>
        <p:nvSpPr>
          <p:cNvPr id="20" name="Text 18"/>
          <p:cNvSpPr/>
          <p:nvPr/>
        </p:nvSpPr>
        <p:spPr>
          <a:xfrm>
            <a:off x="6501384" y="2286000"/>
            <a:ext cx="475488" cy="475488"/>
          </a:xfrm>
          <a:prstGeom prst="rect">
            <a:avLst/>
          </a:prstGeom>
          <a:noFill/>
          <a:ln/>
        </p:spPr>
        <p:txBody>
          <a:bodyPr wrap="square" lIns="0" tIns="0" rIns="0" bIns="0" rtlCol="0" anchor="ctr"/>
          <a:lstStyle/>
          <a:p>
            <a:pPr algn="ctr" indent="0" marL="0">
              <a:buNone/>
            </a:pPr>
            <a:r>
              <a:rPr lang="en-US" sz="1700" b="1" dirty="0">
                <a:solidFill>
                  <a:srgbClr val="21304F"/>
                </a:solidFill>
                <a:latin typeface="Cambria" pitchFamily="34" charset="0"/>
                <a:ea typeface="Cambria" pitchFamily="34" charset="-122"/>
                <a:cs typeface="Cambria" pitchFamily="34" charset="-120"/>
              </a:rPr>
              <a:t>3</a:t>
            </a:r>
            <a:endParaRPr lang="en-US" sz="1700" dirty="0"/>
          </a:p>
        </p:txBody>
      </p:sp>
      <p:sp>
        <p:nvSpPr>
          <p:cNvPr id="21" name="Text 19"/>
          <p:cNvSpPr/>
          <p:nvPr/>
        </p:nvSpPr>
        <p:spPr>
          <a:xfrm>
            <a:off x="6501384" y="2880360"/>
            <a:ext cx="2011680" cy="320040"/>
          </a:xfrm>
          <a:prstGeom prst="rect">
            <a:avLst/>
          </a:prstGeom>
          <a:noFill/>
          <a:ln/>
        </p:spPr>
        <p:txBody>
          <a:bodyPr wrap="square" lIns="0" tIns="0" rIns="0" bIns="0" rtlCol="0" anchor="ctr"/>
          <a:lstStyle/>
          <a:p>
            <a:pPr indent="0" marL="0">
              <a:buNone/>
            </a:pPr>
            <a:r>
              <a:rPr lang="en-US" sz="1700" b="1" dirty="0">
                <a:solidFill>
                  <a:srgbClr val="1F2A37"/>
                </a:solidFill>
                <a:latin typeface="Cambria" pitchFamily="34" charset="0"/>
                <a:ea typeface="Cambria" pitchFamily="34" charset="-122"/>
                <a:cs typeface="Cambria" pitchFamily="34" charset="-120"/>
              </a:rPr>
              <a:t>Wording</a:t>
            </a:r>
            <a:endParaRPr lang="en-US" sz="1700" dirty="0"/>
          </a:p>
        </p:txBody>
      </p:sp>
      <p:sp>
        <p:nvSpPr>
          <p:cNvPr id="22" name="Text 20"/>
          <p:cNvSpPr/>
          <p:nvPr/>
        </p:nvSpPr>
        <p:spPr>
          <a:xfrm>
            <a:off x="6501384" y="3273552"/>
            <a:ext cx="2011680" cy="1005840"/>
          </a:xfrm>
          <a:prstGeom prst="rect">
            <a:avLst/>
          </a:prstGeom>
          <a:noFill/>
          <a:ln/>
        </p:spPr>
        <p:txBody>
          <a:bodyPr wrap="square" lIns="0" tIns="0" rIns="0" bIns="0" rtlCol="0" anchor="ctr"/>
          <a:lstStyle/>
          <a:p>
            <a:pPr indent="0" marL="0">
              <a:lnSpc>
                <a:spcPts val="1700"/>
              </a:lnSpc>
              <a:buNone/>
            </a:pPr>
            <a:r>
              <a:rPr lang="en-US" sz="1150" dirty="0">
                <a:solidFill>
                  <a:srgbClr val="6B7B92"/>
                </a:solidFill>
                <a:latin typeface="Calibri" pitchFamily="34" charset="0"/>
                <a:ea typeface="Calibri" pitchFamily="34" charset="-122"/>
                <a:cs typeface="Calibri" pitchFamily="34" charset="-120"/>
              </a:rPr>
              <a:t>Turns a fired rule into a plain-English suggestion.</a:t>
            </a:r>
            <a:endParaRPr lang="en-US" sz="1150" dirty="0"/>
          </a:p>
        </p:txBody>
      </p:sp>
      <p:sp>
        <p:nvSpPr>
          <p:cNvPr id="23" name="Text 21"/>
          <p:cNvSpPr/>
          <p:nvPr/>
        </p:nvSpPr>
        <p:spPr>
          <a:xfrm>
            <a:off x="6501384" y="4315968"/>
            <a:ext cx="2011680" cy="274320"/>
          </a:xfrm>
          <a:prstGeom prst="rect">
            <a:avLst/>
          </a:prstGeom>
          <a:noFill/>
          <a:ln/>
        </p:spPr>
        <p:txBody>
          <a:bodyPr wrap="square" lIns="0" tIns="0" rIns="0" bIns="0" rtlCol="0" anchor="ctr"/>
          <a:lstStyle/>
          <a:p>
            <a:pPr indent="0" marL="0">
              <a:buNone/>
            </a:pPr>
            <a:r>
              <a:rPr lang="en-US" sz="1100" b="1" dirty="0">
                <a:solidFill>
                  <a:srgbClr val="A6761D"/>
                </a:solidFill>
                <a:latin typeface="Calibri" pitchFamily="34" charset="0"/>
                <a:ea typeface="Calibri" pitchFamily="34" charset="-122"/>
                <a:cs typeface="Calibri" pitchFamily="34" charset="-120"/>
              </a:rPr>
              <a:t>AI</a:t>
            </a:r>
            <a:endParaRPr lang="en-US" sz="1100" dirty="0"/>
          </a:p>
        </p:txBody>
      </p:sp>
      <p:sp>
        <p:nvSpPr>
          <p:cNvPr id="24" name="Text 22"/>
          <p:cNvSpPr/>
          <p:nvPr/>
        </p:nvSpPr>
        <p:spPr>
          <a:xfrm>
            <a:off x="8769096" y="3108960"/>
            <a:ext cx="228600" cy="365760"/>
          </a:xfrm>
          <a:prstGeom prst="rect">
            <a:avLst/>
          </a:prstGeom>
          <a:noFill/>
          <a:ln/>
        </p:spPr>
        <p:txBody>
          <a:bodyPr wrap="square" lIns="0" tIns="0" rIns="0" bIns="0" rtlCol="0" anchor="ctr"/>
          <a:lstStyle/>
          <a:p>
            <a:pPr algn="ctr" indent="0" marL="0">
              <a:buNone/>
            </a:pPr>
            <a:r>
              <a:rPr lang="en-US" sz="2200" dirty="0">
                <a:solidFill>
                  <a:srgbClr val="B9C4D4"/>
                </a:solidFill>
                <a:latin typeface="Calibri" pitchFamily="34" charset="0"/>
                <a:ea typeface="Calibri" pitchFamily="34" charset="-122"/>
                <a:cs typeface="Calibri" pitchFamily="34" charset="-120"/>
              </a:rPr>
              <a:t>›</a:t>
            </a:r>
            <a:endParaRPr lang="en-US" sz="2200" dirty="0"/>
          </a:p>
        </p:txBody>
      </p:sp>
      <p:sp>
        <p:nvSpPr>
          <p:cNvPr id="25" name="Shape 23"/>
          <p:cNvSpPr/>
          <p:nvPr/>
        </p:nvSpPr>
        <p:spPr>
          <a:xfrm>
            <a:off x="8997696" y="2011680"/>
            <a:ext cx="2542032" cy="2743200"/>
          </a:xfrm>
          <a:prstGeom prst="roundRect">
            <a:avLst>
              <a:gd name="adj" fmla="val 4317"/>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26" name="Shape 24"/>
          <p:cNvSpPr/>
          <p:nvPr/>
        </p:nvSpPr>
        <p:spPr>
          <a:xfrm>
            <a:off x="9272016" y="2286000"/>
            <a:ext cx="475488" cy="475488"/>
          </a:xfrm>
          <a:prstGeom prst="ellipse">
            <a:avLst/>
          </a:prstGeom>
          <a:solidFill>
            <a:srgbClr val="5B8DEF"/>
          </a:solidFill>
          <a:ln/>
          <a:effectLst>
            <a:outerShdw sx="100000" sy="100000" kx="0" ky="0" algn="bl" rotWithShape="0" blurRad="177800" dist="38100" dir="5400000">
              <a:srgbClr val="0B1220">
                <a:alpha val="16000"/>
              </a:srgbClr>
            </a:outerShdw>
          </a:effectLst>
        </p:spPr>
      </p:sp>
      <p:sp>
        <p:nvSpPr>
          <p:cNvPr id="27" name="Text 25"/>
          <p:cNvSpPr/>
          <p:nvPr/>
        </p:nvSpPr>
        <p:spPr>
          <a:xfrm>
            <a:off x="9272016" y="228600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8" name="Text 26"/>
          <p:cNvSpPr/>
          <p:nvPr/>
        </p:nvSpPr>
        <p:spPr>
          <a:xfrm>
            <a:off x="9272016" y="2880360"/>
            <a:ext cx="2011680" cy="320040"/>
          </a:xfrm>
          <a:prstGeom prst="rect">
            <a:avLst/>
          </a:prstGeom>
          <a:noFill/>
          <a:ln/>
        </p:spPr>
        <p:txBody>
          <a:bodyPr wrap="square" lIns="0" tIns="0" rIns="0" bIns="0" rtlCol="0" anchor="ctr"/>
          <a:lstStyle/>
          <a:p>
            <a:pPr indent="0" marL="0">
              <a:buNone/>
            </a:pPr>
            <a:r>
              <a:rPr lang="en-US" sz="1700" b="1" dirty="0">
                <a:solidFill>
                  <a:srgbClr val="1F2A37"/>
                </a:solidFill>
                <a:latin typeface="Cambria" pitchFamily="34" charset="0"/>
                <a:ea typeface="Cambria" pitchFamily="34" charset="-122"/>
                <a:cs typeface="Cambria" pitchFamily="34" charset="-120"/>
              </a:rPr>
              <a:t>Decision</a:t>
            </a:r>
            <a:endParaRPr lang="en-US" sz="1700" dirty="0"/>
          </a:p>
        </p:txBody>
      </p:sp>
      <p:sp>
        <p:nvSpPr>
          <p:cNvPr id="29" name="Text 27"/>
          <p:cNvSpPr/>
          <p:nvPr/>
        </p:nvSpPr>
        <p:spPr>
          <a:xfrm>
            <a:off x="9272016" y="3273552"/>
            <a:ext cx="2011680" cy="1005840"/>
          </a:xfrm>
          <a:prstGeom prst="rect">
            <a:avLst/>
          </a:prstGeom>
          <a:noFill/>
          <a:ln/>
        </p:spPr>
        <p:txBody>
          <a:bodyPr wrap="square" lIns="0" tIns="0" rIns="0" bIns="0" rtlCol="0" anchor="ctr"/>
          <a:lstStyle/>
          <a:p>
            <a:pPr indent="0" marL="0">
              <a:lnSpc>
                <a:spcPts val="1700"/>
              </a:lnSpc>
              <a:buNone/>
            </a:pPr>
            <a:r>
              <a:rPr lang="en-US" sz="1150" dirty="0">
                <a:solidFill>
                  <a:srgbClr val="6B7B92"/>
                </a:solidFill>
                <a:latin typeface="Calibri" pitchFamily="34" charset="0"/>
                <a:ea typeface="Calibri" pitchFamily="34" charset="-122"/>
                <a:cs typeface="Calibri" pitchFamily="34" charset="-120"/>
              </a:rPr>
              <a:t>The teacher decides. Always. Sunny contacts nobody.</a:t>
            </a:r>
            <a:endParaRPr lang="en-US" sz="1150" dirty="0"/>
          </a:p>
        </p:txBody>
      </p:sp>
      <p:sp>
        <p:nvSpPr>
          <p:cNvPr id="30" name="Text 28"/>
          <p:cNvSpPr/>
          <p:nvPr/>
        </p:nvSpPr>
        <p:spPr>
          <a:xfrm>
            <a:off x="9272016" y="4315968"/>
            <a:ext cx="2011680" cy="274320"/>
          </a:xfrm>
          <a:prstGeom prst="rect">
            <a:avLst/>
          </a:prstGeom>
          <a:noFill/>
          <a:ln/>
        </p:spPr>
        <p:txBody>
          <a:bodyPr wrap="square" lIns="0" tIns="0" rIns="0" bIns="0" rtlCol="0" anchor="ctr"/>
          <a:lstStyle/>
          <a:p>
            <a:pPr indent="0" marL="0">
              <a:buNone/>
            </a:pPr>
            <a:r>
              <a:rPr lang="en-US" sz="1100" b="1" dirty="0">
                <a:solidFill>
                  <a:srgbClr val="3BB27A"/>
                </a:solidFill>
                <a:latin typeface="Calibri" pitchFamily="34" charset="0"/>
                <a:ea typeface="Calibri" pitchFamily="34" charset="-122"/>
                <a:cs typeface="Calibri" pitchFamily="34" charset="-120"/>
              </a:rPr>
              <a:t>No AI</a:t>
            </a:r>
            <a:endParaRPr lang="en-US" sz="1100" dirty="0"/>
          </a:p>
        </p:txBody>
      </p:sp>
      <p:sp>
        <p:nvSpPr>
          <p:cNvPr id="31" name="Shape 29"/>
          <p:cNvSpPr/>
          <p:nvPr/>
        </p:nvSpPr>
        <p:spPr>
          <a:xfrm>
            <a:off x="685800" y="4983480"/>
            <a:ext cx="10789920" cy="777240"/>
          </a:xfrm>
          <a:prstGeom prst="roundRect">
            <a:avLst>
              <a:gd name="adj" fmla="val 14118"/>
            </a:avLst>
          </a:prstGeom>
          <a:solidFill>
            <a:srgbClr val="21304F"/>
          </a:solidFill>
          <a:ln/>
          <a:effectLst>
            <a:outerShdw sx="100000" sy="100000" kx="0" ky="0" algn="bl" rotWithShape="0" blurRad="177800" dist="38100" dir="5400000">
              <a:srgbClr val="0B1220">
                <a:alpha val="16000"/>
              </a:srgbClr>
            </a:outerShdw>
          </a:effectLst>
        </p:spPr>
      </p:sp>
      <p:sp>
        <p:nvSpPr>
          <p:cNvPr id="32" name="Text 30"/>
          <p:cNvSpPr/>
          <p:nvPr/>
        </p:nvSpPr>
        <p:spPr>
          <a:xfrm>
            <a:off x="1005840" y="4983480"/>
            <a:ext cx="10149840" cy="777240"/>
          </a:xfrm>
          <a:prstGeom prst="rect">
            <a:avLst/>
          </a:prstGeom>
          <a:noFill/>
          <a:ln/>
        </p:spPr>
        <p:txBody>
          <a:bodyPr wrap="square" lIns="0" tIns="0" rIns="0" bIns="0" rtlCol="0" anchor="ctr"/>
          <a:lstStyle/>
          <a:p>
            <a:pPr indent="0" marL="0">
              <a:buNone/>
            </a:pPr>
            <a:r>
              <a:rPr lang="en-US" sz="1800" b="1" dirty="0">
                <a:solidFill>
                  <a:srgbClr val="FFC24A"/>
                </a:solidFill>
                <a:latin typeface="Cambria" pitchFamily="34" charset="0"/>
                <a:ea typeface="Cambria" pitchFamily="34" charset="-122"/>
                <a:cs typeface="Cambria" pitchFamily="34" charset="-120"/>
              </a:rPr>
              <a:t>Remove the AI entirely and Sunny flags exactly the same children.</a:t>
            </a:r>
            <a:endParaRPr lang="en-US" sz="1800" dirty="0"/>
          </a:p>
        </p:txBody>
      </p:sp>
      <p:sp>
        <p:nvSpPr>
          <p:cNvPr id="33" name="Text 31"/>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7B92"/>
                </a:solidFill>
                <a:latin typeface="Calibri" pitchFamily="34" charset="0"/>
                <a:ea typeface="Calibri" pitchFamily="34" charset="-122"/>
                <a:cs typeface="Calibri" pitchFamily="34" charset="-120"/>
              </a:rPr>
              <a:t>Our answer  ·  Innovation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10789920" cy="777240"/>
          </a:xfrm>
          <a:prstGeom prst="rect">
            <a:avLst/>
          </a:prstGeom>
          <a:noFill/>
          <a:ln/>
        </p:spPr>
        <p:txBody>
          <a:bodyPr wrap="square" lIns="0" tIns="0" rIns="0" bIns="0" rtlCol="0" anchor="ctr"/>
          <a:lstStyle/>
          <a:p>
            <a:pPr indent="0" marL="0">
              <a:buNone/>
            </a:pPr>
            <a:r>
              <a:rPr lang="en-US" sz="3600" b="1" dirty="0">
                <a:solidFill>
                  <a:srgbClr val="1F2A37"/>
                </a:solidFill>
                <a:latin typeface="Cambria" pitchFamily="34" charset="0"/>
                <a:ea typeface="Cambria" pitchFamily="34" charset="-122"/>
                <a:cs typeface="Cambria" pitchFamily="34" charset="-120"/>
              </a:rPr>
              <a:t>Four rules, printed in full</a:t>
            </a:r>
            <a:endParaRPr lang="en-US" sz="3600" dirty="0"/>
          </a:p>
        </p:txBody>
      </p:sp>
      <p:sp>
        <p:nvSpPr>
          <p:cNvPr id="3" name="Text 1"/>
          <p:cNvSpPr/>
          <p:nvPr/>
        </p:nvSpPr>
        <p:spPr>
          <a:xfrm>
            <a:off x="685800" y="1197864"/>
            <a:ext cx="10789920" cy="384048"/>
          </a:xfrm>
          <a:prstGeom prst="rect">
            <a:avLst/>
          </a:prstGeom>
          <a:noFill/>
          <a:ln/>
        </p:spPr>
        <p:txBody>
          <a:bodyPr wrap="square" lIns="0" tIns="0" rIns="0" bIns="0" rtlCol="0" anchor="ctr"/>
          <a:lstStyle/>
          <a:p>
            <a:pPr indent="0" marL="0">
              <a:buNone/>
            </a:pPr>
            <a:r>
              <a:rPr lang="en-US" sz="1500" dirty="0">
                <a:solidFill>
                  <a:srgbClr val="6B7B92"/>
                </a:solidFill>
                <a:latin typeface="Calibri" pitchFamily="34" charset="0"/>
                <a:ea typeface="Calibri" pitchFamily="34" charset="-122"/>
                <a:cs typeface="Calibri" pitchFamily="34" charset="-120"/>
              </a:rPr>
              <a:t>Because a parent should be able to check the maths by hand.</a:t>
            </a:r>
            <a:endParaRPr lang="en-US" sz="1500" dirty="0"/>
          </a:p>
        </p:txBody>
      </p:sp>
      <p:sp>
        <p:nvSpPr>
          <p:cNvPr id="4" name="Shape 2"/>
          <p:cNvSpPr/>
          <p:nvPr/>
        </p:nvSpPr>
        <p:spPr>
          <a:xfrm>
            <a:off x="685800" y="1901952"/>
            <a:ext cx="10789920" cy="658368"/>
          </a:xfrm>
          <a:prstGeom prst="roundRect">
            <a:avLst>
              <a:gd name="adj" fmla="val 1666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5" name="Shape 3"/>
          <p:cNvSpPr/>
          <p:nvPr/>
        </p:nvSpPr>
        <p:spPr>
          <a:xfrm>
            <a:off x="932688" y="1975104"/>
            <a:ext cx="530352" cy="530352"/>
          </a:xfrm>
          <a:prstGeom prst="ellipse">
            <a:avLst/>
          </a:prstGeom>
          <a:solidFill>
            <a:srgbClr val="E06666"/>
          </a:solidFill>
          <a:ln/>
          <a:effectLst>
            <a:outerShdw sx="100000" sy="100000" kx="0" ky="0" algn="bl" rotWithShape="0" blurRad="177800" dist="38100" dir="5400000">
              <a:srgbClr val="0B1220">
                <a:alpha val="16000"/>
              </a:srgbClr>
            </a:outerShdw>
          </a:effectLst>
        </p:spPr>
      </p:sp>
      <p:sp>
        <p:nvSpPr>
          <p:cNvPr id="6" name="Text 4"/>
          <p:cNvSpPr/>
          <p:nvPr/>
        </p:nvSpPr>
        <p:spPr>
          <a:xfrm>
            <a:off x="932688" y="1975104"/>
            <a:ext cx="530352" cy="53035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R1</a:t>
            </a:r>
            <a:endParaRPr lang="en-US" sz="1400" dirty="0"/>
          </a:p>
        </p:txBody>
      </p:sp>
      <p:sp>
        <p:nvSpPr>
          <p:cNvPr id="7" name="Text 5"/>
          <p:cNvSpPr/>
          <p:nvPr/>
        </p:nvSpPr>
        <p:spPr>
          <a:xfrm>
            <a:off x="1691640" y="1956816"/>
            <a:ext cx="2468880" cy="292608"/>
          </a:xfrm>
          <a:prstGeom prst="rect">
            <a:avLst/>
          </a:prstGeom>
          <a:noFill/>
          <a:ln/>
        </p:spPr>
        <p:txBody>
          <a:bodyPr wrap="square" lIns="0" tIns="0" rIns="0" bIns="0" rtlCol="0" anchor="ctr"/>
          <a:lstStyle/>
          <a:p>
            <a:pPr indent="0" marL="0">
              <a:buNone/>
            </a:pPr>
            <a:r>
              <a:rPr lang="en-US" sz="1600" b="1" dirty="0">
                <a:solidFill>
                  <a:srgbClr val="1F2A37"/>
                </a:solidFill>
                <a:latin typeface="Cambria" pitchFamily="34" charset="0"/>
                <a:ea typeface="Cambria" pitchFamily="34" charset="-122"/>
                <a:cs typeface="Cambria" pitchFamily="34" charset="-120"/>
              </a:rPr>
              <a:t>Sudden change</a:t>
            </a:r>
            <a:endParaRPr lang="en-US" sz="1600" dirty="0"/>
          </a:p>
        </p:txBody>
      </p:sp>
      <p:sp>
        <p:nvSpPr>
          <p:cNvPr id="8" name="Text 6"/>
          <p:cNvSpPr/>
          <p:nvPr/>
        </p:nvSpPr>
        <p:spPr>
          <a:xfrm>
            <a:off x="4206240" y="1984248"/>
            <a:ext cx="7040880" cy="292608"/>
          </a:xfrm>
          <a:prstGeom prst="rect">
            <a:avLst/>
          </a:prstGeom>
          <a:noFill/>
          <a:ln/>
        </p:spPr>
        <p:txBody>
          <a:bodyPr wrap="square" lIns="0" tIns="0" rIns="0" bIns="0" rtlCol="0" anchor="ctr"/>
          <a:lstStyle/>
          <a:p>
            <a:pPr indent="0" marL="0">
              <a:buNone/>
            </a:pPr>
            <a:r>
              <a:rPr lang="en-US" sz="1250" dirty="0">
                <a:solidFill>
                  <a:srgbClr val="6B7B92"/>
                </a:solidFill>
                <a:latin typeface="Calibri" pitchFamily="34" charset="0"/>
                <a:ea typeface="Calibri" pitchFamily="34" charset="-122"/>
                <a:cs typeface="Calibri" pitchFamily="34" charset="-120"/>
              </a:rPr>
              <a:t>≥2 steps below their own 30-day median, 2 days running.</a:t>
            </a:r>
            <a:endParaRPr lang="en-US" sz="1250" dirty="0"/>
          </a:p>
        </p:txBody>
      </p:sp>
      <p:sp>
        <p:nvSpPr>
          <p:cNvPr id="9" name="Shape 7"/>
          <p:cNvSpPr/>
          <p:nvPr/>
        </p:nvSpPr>
        <p:spPr>
          <a:xfrm>
            <a:off x="685800" y="2642616"/>
            <a:ext cx="10789920" cy="658368"/>
          </a:xfrm>
          <a:prstGeom prst="roundRect">
            <a:avLst>
              <a:gd name="adj" fmla="val 1666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0" name="Shape 8"/>
          <p:cNvSpPr/>
          <p:nvPr/>
        </p:nvSpPr>
        <p:spPr>
          <a:xfrm>
            <a:off x="932688" y="2715768"/>
            <a:ext cx="530352" cy="530352"/>
          </a:xfrm>
          <a:prstGeom prst="ellipse">
            <a:avLst/>
          </a:prstGeom>
          <a:solidFill>
            <a:srgbClr val="E8A13A"/>
          </a:solidFill>
          <a:ln/>
          <a:effectLst>
            <a:outerShdw sx="100000" sy="100000" kx="0" ky="0" algn="bl" rotWithShape="0" blurRad="177800" dist="38100" dir="5400000">
              <a:srgbClr val="0B1220">
                <a:alpha val="16000"/>
              </a:srgbClr>
            </a:outerShdw>
          </a:effectLst>
        </p:spPr>
      </p:sp>
      <p:sp>
        <p:nvSpPr>
          <p:cNvPr id="11" name="Text 9"/>
          <p:cNvSpPr/>
          <p:nvPr/>
        </p:nvSpPr>
        <p:spPr>
          <a:xfrm>
            <a:off x="932688" y="2715768"/>
            <a:ext cx="530352" cy="53035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R2</a:t>
            </a:r>
            <a:endParaRPr lang="en-US" sz="1400" dirty="0"/>
          </a:p>
        </p:txBody>
      </p:sp>
      <p:sp>
        <p:nvSpPr>
          <p:cNvPr id="12" name="Text 10"/>
          <p:cNvSpPr/>
          <p:nvPr/>
        </p:nvSpPr>
        <p:spPr>
          <a:xfrm>
            <a:off x="1691640" y="2697480"/>
            <a:ext cx="2468880" cy="292608"/>
          </a:xfrm>
          <a:prstGeom prst="rect">
            <a:avLst/>
          </a:prstGeom>
          <a:noFill/>
          <a:ln/>
        </p:spPr>
        <p:txBody>
          <a:bodyPr wrap="square" lIns="0" tIns="0" rIns="0" bIns="0" rtlCol="0" anchor="ctr"/>
          <a:lstStyle/>
          <a:p>
            <a:pPr indent="0" marL="0">
              <a:buNone/>
            </a:pPr>
            <a:r>
              <a:rPr lang="en-US" sz="1600" b="1" dirty="0">
                <a:solidFill>
                  <a:srgbClr val="1F2A37"/>
                </a:solidFill>
                <a:latin typeface="Cambria" pitchFamily="34" charset="0"/>
                <a:ea typeface="Cambria" pitchFamily="34" charset="-122"/>
                <a:cs typeface="Cambria" pitchFamily="34" charset="-120"/>
              </a:rPr>
              <a:t>Sustained drift</a:t>
            </a:r>
            <a:endParaRPr lang="en-US" sz="1600" dirty="0"/>
          </a:p>
        </p:txBody>
      </p:sp>
      <p:sp>
        <p:nvSpPr>
          <p:cNvPr id="13" name="Text 11"/>
          <p:cNvSpPr/>
          <p:nvPr/>
        </p:nvSpPr>
        <p:spPr>
          <a:xfrm>
            <a:off x="4206240" y="2724912"/>
            <a:ext cx="7040880" cy="292608"/>
          </a:xfrm>
          <a:prstGeom prst="rect">
            <a:avLst/>
          </a:prstGeom>
          <a:noFill/>
          <a:ln/>
        </p:spPr>
        <p:txBody>
          <a:bodyPr wrap="square" lIns="0" tIns="0" rIns="0" bIns="0" rtlCol="0" anchor="ctr"/>
          <a:lstStyle/>
          <a:p>
            <a:pPr indent="0" marL="0">
              <a:buNone/>
            </a:pPr>
            <a:r>
              <a:rPr lang="en-US" sz="1250" dirty="0">
                <a:solidFill>
                  <a:srgbClr val="6B7B92"/>
                </a:solidFill>
                <a:latin typeface="Calibri" pitchFamily="34" charset="0"/>
                <a:ea typeface="Calibri" pitchFamily="34" charset="-122"/>
                <a:cs typeface="Calibri" pitchFamily="34" charset="-120"/>
              </a:rPr>
              <a:t>≥1.5 steps below their own median, 3 days running.</a:t>
            </a:r>
            <a:endParaRPr lang="en-US" sz="1250" dirty="0"/>
          </a:p>
        </p:txBody>
      </p:sp>
      <p:sp>
        <p:nvSpPr>
          <p:cNvPr id="14" name="Shape 12"/>
          <p:cNvSpPr/>
          <p:nvPr/>
        </p:nvSpPr>
        <p:spPr>
          <a:xfrm>
            <a:off x="685800" y="3383280"/>
            <a:ext cx="10789920" cy="658368"/>
          </a:xfrm>
          <a:prstGeom prst="roundRect">
            <a:avLst>
              <a:gd name="adj" fmla="val 1666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5" name="Shape 13"/>
          <p:cNvSpPr/>
          <p:nvPr/>
        </p:nvSpPr>
        <p:spPr>
          <a:xfrm>
            <a:off x="932688" y="3456432"/>
            <a:ext cx="530352" cy="530352"/>
          </a:xfrm>
          <a:prstGeom prst="ellipse">
            <a:avLst/>
          </a:prstGeom>
          <a:solidFill>
            <a:srgbClr val="5B8DEF"/>
          </a:solidFill>
          <a:ln/>
          <a:effectLst>
            <a:outerShdw sx="100000" sy="100000" kx="0" ky="0" algn="bl" rotWithShape="0" blurRad="177800" dist="38100" dir="5400000">
              <a:srgbClr val="0B1220">
                <a:alpha val="16000"/>
              </a:srgbClr>
            </a:outerShdw>
          </a:effectLst>
        </p:spPr>
      </p:sp>
      <p:sp>
        <p:nvSpPr>
          <p:cNvPr id="16" name="Text 14"/>
          <p:cNvSpPr/>
          <p:nvPr/>
        </p:nvSpPr>
        <p:spPr>
          <a:xfrm>
            <a:off x="932688" y="3456432"/>
            <a:ext cx="530352" cy="53035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R3</a:t>
            </a:r>
            <a:endParaRPr lang="en-US" sz="1400" dirty="0"/>
          </a:p>
        </p:txBody>
      </p:sp>
      <p:sp>
        <p:nvSpPr>
          <p:cNvPr id="17" name="Text 15"/>
          <p:cNvSpPr/>
          <p:nvPr/>
        </p:nvSpPr>
        <p:spPr>
          <a:xfrm>
            <a:off x="1691640" y="3438144"/>
            <a:ext cx="2468880" cy="292608"/>
          </a:xfrm>
          <a:prstGeom prst="rect">
            <a:avLst/>
          </a:prstGeom>
          <a:noFill/>
          <a:ln/>
        </p:spPr>
        <p:txBody>
          <a:bodyPr wrap="square" lIns="0" tIns="0" rIns="0" bIns="0" rtlCol="0" anchor="ctr"/>
          <a:lstStyle/>
          <a:p>
            <a:pPr indent="0" marL="0">
              <a:buNone/>
            </a:pPr>
            <a:r>
              <a:rPr lang="en-US" sz="1600" b="1" dirty="0">
                <a:solidFill>
                  <a:srgbClr val="1F2A37"/>
                </a:solidFill>
                <a:latin typeface="Cambria" pitchFamily="34" charset="0"/>
                <a:ea typeface="Cambria" pitchFamily="34" charset="-122"/>
                <a:cs typeface="Cambria" pitchFamily="34" charset="-120"/>
              </a:rPr>
              <a:t>Repeating cycle</a:t>
            </a:r>
            <a:endParaRPr lang="en-US" sz="1600" dirty="0"/>
          </a:p>
        </p:txBody>
      </p:sp>
      <p:sp>
        <p:nvSpPr>
          <p:cNvPr id="18" name="Text 16"/>
          <p:cNvSpPr/>
          <p:nvPr/>
        </p:nvSpPr>
        <p:spPr>
          <a:xfrm>
            <a:off x="4206240" y="3465576"/>
            <a:ext cx="7040880" cy="292608"/>
          </a:xfrm>
          <a:prstGeom prst="rect">
            <a:avLst/>
          </a:prstGeom>
          <a:noFill/>
          <a:ln/>
        </p:spPr>
        <p:txBody>
          <a:bodyPr wrap="square" lIns="0" tIns="0" rIns="0" bIns="0" rtlCol="0" anchor="ctr"/>
          <a:lstStyle/>
          <a:p>
            <a:pPr indent="0" marL="0">
              <a:buNone/>
            </a:pPr>
            <a:r>
              <a:rPr lang="en-US" sz="1250" dirty="0">
                <a:solidFill>
                  <a:srgbClr val="6B7B92"/>
                </a:solidFill>
                <a:latin typeface="Calibri" pitchFamily="34" charset="0"/>
                <a:ea typeface="Calibri" pitchFamily="34" charset="-122"/>
                <a:cs typeface="Calibri" pitchFamily="34" charset="-120"/>
              </a:rPr>
              <a:t>The same weekday low in 4 of the last 6 occurrences.</a:t>
            </a:r>
            <a:endParaRPr lang="en-US" sz="1250" dirty="0"/>
          </a:p>
        </p:txBody>
      </p:sp>
      <p:sp>
        <p:nvSpPr>
          <p:cNvPr id="19" name="Shape 17"/>
          <p:cNvSpPr/>
          <p:nvPr/>
        </p:nvSpPr>
        <p:spPr>
          <a:xfrm>
            <a:off x="685800" y="4123944"/>
            <a:ext cx="10789920" cy="658368"/>
          </a:xfrm>
          <a:prstGeom prst="roundRect">
            <a:avLst>
              <a:gd name="adj" fmla="val 1666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20" name="Shape 18"/>
          <p:cNvSpPr/>
          <p:nvPr/>
        </p:nvSpPr>
        <p:spPr>
          <a:xfrm>
            <a:off x="932688" y="4197096"/>
            <a:ext cx="530352" cy="530352"/>
          </a:xfrm>
          <a:prstGeom prst="ellipse">
            <a:avLst/>
          </a:prstGeom>
          <a:solidFill>
            <a:srgbClr val="8B7FD9"/>
          </a:solidFill>
          <a:ln/>
          <a:effectLst>
            <a:outerShdw sx="100000" sy="100000" kx="0" ky="0" algn="bl" rotWithShape="0" blurRad="177800" dist="38100" dir="5400000">
              <a:srgbClr val="0B1220">
                <a:alpha val="16000"/>
              </a:srgbClr>
            </a:outerShdw>
          </a:effectLst>
        </p:spPr>
      </p:sp>
      <p:sp>
        <p:nvSpPr>
          <p:cNvPr id="21" name="Text 19"/>
          <p:cNvSpPr/>
          <p:nvPr/>
        </p:nvSpPr>
        <p:spPr>
          <a:xfrm>
            <a:off x="932688" y="4197096"/>
            <a:ext cx="530352" cy="53035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R4</a:t>
            </a:r>
            <a:endParaRPr lang="en-US" sz="1400" dirty="0"/>
          </a:p>
        </p:txBody>
      </p:sp>
      <p:sp>
        <p:nvSpPr>
          <p:cNvPr id="22" name="Text 20"/>
          <p:cNvSpPr/>
          <p:nvPr/>
        </p:nvSpPr>
        <p:spPr>
          <a:xfrm>
            <a:off x="1691640" y="4178808"/>
            <a:ext cx="2468880" cy="292608"/>
          </a:xfrm>
          <a:prstGeom prst="rect">
            <a:avLst/>
          </a:prstGeom>
          <a:noFill/>
          <a:ln/>
        </p:spPr>
        <p:txBody>
          <a:bodyPr wrap="square" lIns="0" tIns="0" rIns="0" bIns="0" rtlCol="0" anchor="ctr"/>
          <a:lstStyle/>
          <a:p>
            <a:pPr indent="0" marL="0">
              <a:buNone/>
            </a:pPr>
            <a:r>
              <a:rPr lang="en-US" sz="1600" b="1" dirty="0">
                <a:solidFill>
                  <a:srgbClr val="1F2A37"/>
                </a:solidFill>
                <a:latin typeface="Cambria" pitchFamily="34" charset="0"/>
                <a:ea typeface="Cambria" pitchFamily="34" charset="-122"/>
                <a:cs typeface="Cambria" pitchFamily="34" charset="-120"/>
              </a:rPr>
              <a:t>Stopped checking in</a:t>
            </a:r>
            <a:endParaRPr lang="en-US" sz="1600" dirty="0"/>
          </a:p>
        </p:txBody>
      </p:sp>
      <p:sp>
        <p:nvSpPr>
          <p:cNvPr id="23" name="Text 21"/>
          <p:cNvSpPr/>
          <p:nvPr/>
        </p:nvSpPr>
        <p:spPr>
          <a:xfrm>
            <a:off x="4206240" y="4206240"/>
            <a:ext cx="7040880" cy="292608"/>
          </a:xfrm>
          <a:prstGeom prst="rect">
            <a:avLst/>
          </a:prstGeom>
          <a:noFill/>
          <a:ln/>
        </p:spPr>
        <p:txBody>
          <a:bodyPr wrap="square" lIns="0" tIns="0" rIns="0" bIns="0" rtlCol="0" anchor="ctr"/>
          <a:lstStyle/>
          <a:p>
            <a:pPr indent="0" marL="0">
              <a:buNone/>
            </a:pPr>
            <a:r>
              <a:rPr lang="en-US" sz="1250" dirty="0">
                <a:solidFill>
                  <a:srgbClr val="6B7B92"/>
                </a:solidFill>
                <a:latin typeface="Calibri" pitchFamily="34" charset="0"/>
                <a:ea typeface="Calibri" pitchFamily="34" charset="-122"/>
                <a:cs typeface="Calibri" pitchFamily="34" charset="-120"/>
              </a:rPr>
              <a:t>A child who normally answers has missed 3 days.</a:t>
            </a:r>
            <a:endParaRPr lang="en-US" sz="1250" dirty="0"/>
          </a:p>
        </p:txBody>
      </p:sp>
      <p:sp>
        <p:nvSpPr>
          <p:cNvPr id="24" name="Shape 22"/>
          <p:cNvSpPr/>
          <p:nvPr/>
        </p:nvSpPr>
        <p:spPr>
          <a:xfrm>
            <a:off x="685800" y="5074920"/>
            <a:ext cx="5257800" cy="868680"/>
          </a:xfrm>
          <a:prstGeom prst="roundRect">
            <a:avLst>
              <a:gd name="adj" fmla="val 12632"/>
            </a:avLst>
          </a:prstGeom>
          <a:solidFill>
            <a:srgbClr val="E8F0FE"/>
          </a:solidFill>
          <a:ln w="12700">
            <a:solidFill>
              <a:srgbClr val="FFC24A"/>
            </a:solidFill>
            <a:prstDash val="solid"/>
          </a:ln>
          <a:effectLst>
            <a:outerShdw sx="100000" sy="100000" kx="0" ky="0" algn="bl" rotWithShape="0" blurRad="177800" dist="38100" dir="5400000">
              <a:srgbClr val="0B1220">
                <a:alpha val="16000"/>
              </a:srgbClr>
            </a:outerShdw>
          </a:effectLst>
        </p:spPr>
      </p:sp>
      <p:sp>
        <p:nvSpPr>
          <p:cNvPr id="25" name="Text 23"/>
          <p:cNvSpPr/>
          <p:nvPr/>
        </p:nvSpPr>
        <p:spPr>
          <a:xfrm>
            <a:off x="1005840" y="5175504"/>
            <a:ext cx="4663440" cy="274320"/>
          </a:xfrm>
          <a:prstGeom prst="rect">
            <a:avLst/>
          </a:prstGeom>
          <a:noFill/>
          <a:ln/>
        </p:spPr>
        <p:txBody>
          <a:bodyPr wrap="square" lIns="0" tIns="0" rIns="0" bIns="0" rtlCol="0" anchor="ctr"/>
          <a:lstStyle/>
          <a:p>
            <a:pPr indent="0" marL="0">
              <a:buNone/>
            </a:pPr>
            <a:r>
              <a:rPr lang="en-US" sz="1400" b="1" dirty="0">
                <a:solidFill>
                  <a:srgbClr val="21304F"/>
                </a:solidFill>
                <a:latin typeface="Cambria" pitchFamily="34" charset="0"/>
                <a:ea typeface="Cambria" pitchFamily="34" charset="-122"/>
                <a:cs typeface="Cambria" pitchFamily="34" charset="-120"/>
              </a:rPr>
              <a:t>Compared only to themselves</a:t>
            </a:r>
            <a:endParaRPr lang="en-US" sz="1400" dirty="0"/>
          </a:p>
        </p:txBody>
      </p:sp>
      <p:sp>
        <p:nvSpPr>
          <p:cNvPr id="26" name="Text 24"/>
          <p:cNvSpPr/>
          <p:nvPr/>
        </p:nvSpPr>
        <p:spPr>
          <a:xfrm>
            <a:off x="1005840" y="5468112"/>
            <a:ext cx="4663440" cy="365760"/>
          </a:xfrm>
          <a:prstGeom prst="rect">
            <a:avLst/>
          </a:prstGeom>
          <a:noFill/>
          <a:ln/>
        </p:spPr>
        <p:txBody>
          <a:bodyPr wrap="square" lIns="0" tIns="0" rIns="0" bIns="0" rtlCol="0" anchor="ctr"/>
          <a:lstStyle/>
          <a:p>
            <a:pPr indent="0" marL="0">
              <a:buNone/>
            </a:pPr>
            <a:r>
              <a:rPr lang="en-US" sz="1200" dirty="0">
                <a:solidFill>
                  <a:srgbClr val="21304F"/>
                </a:solidFill>
                <a:latin typeface="Calibri" pitchFamily="34" charset="0"/>
                <a:ea typeface="Calibri" pitchFamily="34" charset="-122"/>
                <a:cs typeface="Calibri" pitchFamily="34" charset="-120"/>
              </a:rPr>
              <a:t>A child who is always “okay” is never flagged for it.</a:t>
            </a:r>
            <a:endParaRPr lang="en-US" sz="1200" dirty="0"/>
          </a:p>
        </p:txBody>
      </p:sp>
      <p:sp>
        <p:nvSpPr>
          <p:cNvPr id="27" name="Shape 25"/>
          <p:cNvSpPr/>
          <p:nvPr/>
        </p:nvSpPr>
        <p:spPr>
          <a:xfrm>
            <a:off x="6217920" y="5074920"/>
            <a:ext cx="5257800" cy="868680"/>
          </a:xfrm>
          <a:prstGeom prst="roundRect">
            <a:avLst>
              <a:gd name="adj" fmla="val 12632"/>
            </a:avLst>
          </a:prstGeom>
          <a:solidFill>
            <a:srgbClr val="E8F0FE"/>
          </a:solidFill>
          <a:ln w="12700">
            <a:solidFill>
              <a:srgbClr val="FFC24A"/>
            </a:solidFill>
            <a:prstDash val="solid"/>
          </a:ln>
          <a:effectLst>
            <a:outerShdw sx="100000" sy="100000" kx="0" ky="0" algn="bl" rotWithShape="0" blurRad="177800" dist="38100" dir="5400000">
              <a:srgbClr val="0B1220">
                <a:alpha val="16000"/>
              </a:srgbClr>
            </a:outerShdw>
          </a:effectLst>
        </p:spPr>
      </p:sp>
      <p:sp>
        <p:nvSpPr>
          <p:cNvPr id="28" name="Text 26"/>
          <p:cNvSpPr/>
          <p:nvPr/>
        </p:nvSpPr>
        <p:spPr>
          <a:xfrm>
            <a:off x="6537960" y="5175504"/>
            <a:ext cx="4663440" cy="274320"/>
          </a:xfrm>
          <a:prstGeom prst="rect">
            <a:avLst/>
          </a:prstGeom>
          <a:noFill/>
          <a:ln/>
        </p:spPr>
        <p:txBody>
          <a:bodyPr wrap="square" lIns="0" tIns="0" rIns="0" bIns="0" rtlCol="0" anchor="ctr"/>
          <a:lstStyle/>
          <a:p>
            <a:pPr indent="0" marL="0">
              <a:buNone/>
            </a:pPr>
            <a:r>
              <a:rPr lang="en-US" sz="1400" b="1" dirty="0">
                <a:solidFill>
                  <a:srgbClr val="21304F"/>
                </a:solidFill>
                <a:latin typeface="Cambria" pitchFamily="34" charset="0"/>
                <a:ea typeface="Cambria" pitchFamily="34" charset="-122"/>
                <a:cs typeface="Cambria" pitchFamily="34" charset="-120"/>
              </a:rPr>
              <a:t>Silence is a signal too</a:t>
            </a:r>
            <a:endParaRPr lang="en-US" sz="1400" dirty="0"/>
          </a:p>
        </p:txBody>
      </p:sp>
      <p:sp>
        <p:nvSpPr>
          <p:cNvPr id="29" name="Text 27"/>
          <p:cNvSpPr/>
          <p:nvPr/>
        </p:nvSpPr>
        <p:spPr>
          <a:xfrm>
            <a:off x="6537960" y="5468112"/>
            <a:ext cx="4663440" cy="365760"/>
          </a:xfrm>
          <a:prstGeom prst="rect">
            <a:avLst/>
          </a:prstGeom>
          <a:noFill/>
          <a:ln/>
        </p:spPr>
        <p:txBody>
          <a:bodyPr wrap="square" lIns="0" tIns="0" rIns="0" bIns="0" rtlCol="0" anchor="ctr"/>
          <a:lstStyle/>
          <a:p>
            <a:pPr indent="0" marL="0">
              <a:buNone/>
            </a:pPr>
            <a:r>
              <a:rPr lang="en-US" sz="1200" dirty="0">
                <a:solidFill>
                  <a:srgbClr val="21304F"/>
                </a:solidFill>
                <a:latin typeface="Calibri" pitchFamily="34" charset="0"/>
                <a:ea typeface="Calibri" pitchFamily="34" charset="-122"/>
                <a:cs typeface="Calibri" pitchFamily="34" charset="-120"/>
              </a:rPr>
              <a:t>A mood scale cannot say “I have stopped answering”. R4 can.</a:t>
            </a:r>
            <a:endParaRPr lang="en-US" sz="1200" dirty="0"/>
          </a:p>
        </p:txBody>
      </p:sp>
      <p:sp>
        <p:nvSpPr>
          <p:cNvPr id="30" name="Text 28"/>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7B92"/>
                </a:solidFill>
                <a:latin typeface="Calibri" pitchFamily="34" charset="0"/>
                <a:ea typeface="Calibri" pitchFamily="34" charset="-122"/>
                <a:cs typeface="Calibri" pitchFamily="34" charset="-120"/>
              </a:rPr>
              <a:t>Transparency  ·  Innovation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85800" y="457200"/>
            <a:ext cx="10789920" cy="777240"/>
          </a:xfrm>
          <a:prstGeom prst="rect">
            <a:avLst/>
          </a:prstGeom>
          <a:noFill/>
          <a:ln/>
        </p:spPr>
        <p:txBody>
          <a:bodyPr wrap="square" lIns="0" tIns="0" rIns="0" bIns="0" rtlCol="0" anchor="ctr"/>
          <a:lstStyle/>
          <a:p>
            <a:pPr indent="0" marL="0">
              <a:buNone/>
            </a:pPr>
            <a:r>
              <a:rPr lang="en-US" sz="3600" b="1" dirty="0">
                <a:solidFill>
                  <a:srgbClr val="1F2A37"/>
                </a:solidFill>
                <a:latin typeface="Cambria" pitchFamily="34" charset="0"/>
                <a:ea typeface="Cambria" pitchFamily="34" charset="-122"/>
                <a:cs typeface="Cambria" pitchFamily="34" charset="-120"/>
              </a:rPr>
              <a:t>The machine found the pattern.</a:t>
            </a:r>
            <a:endParaRPr lang="en-US" sz="3600" dirty="0"/>
          </a:p>
        </p:txBody>
      </p:sp>
      <p:sp>
        <p:nvSpPr>
          <p:cNvPr id="3" name="Text 1"/>
          <p:cNvSpPr/>
          <p:nvPr/>
        </p:nvSpPr>
        <p:spPr>
          <a:xfrm>
            <a:off x="685800" y="1197864"/>
            <a:ext cx="10789920" cy="384048"/>
          </a:xfrm>
          <a:prstGeom prst="rect">
            <a:avLst/>
          </a:prstGeom>
          <a:noFill/>
          <a:ln/>
        </p:spPr>
        <p:txBody>
          <a:bodyPr wrap="square" lIns="0" tIns="0" rIns="0" bIns="0" rtlCol="0" anchor="ctr"/>
          <a:lstStyle/>
          <a:p>
            <a:pPr indent="0" marL="0">
              <a:buNone/>
            </a:pPr>
            <a:r>
              <a:rPr lang="en-US" sz="1500" dirty="0">
                <a:solidFill>
                  <a:srgbClr val="6B7B92"/>
                </a:solidFill>
                <a:latin typeface="Calibri" pitchFamily="34" charset="0"/>
                <a:ea typeface="Calibri" pitchFamily="34" charset="-122"/>
                <a:cs typeface="Calibri" pitchFamily="34" charset="-120"/>
              </a:rPr>
              <a:t>A human already knew why — support plans, written by the people who know the child, rank above the AI.</a:t>
            </a:r>
            <a:endParaRPr lang="en-US" sz="1500" dirty="0"/>
          </a:p>
        </p:txBody>
      </p:sp>
      <p:sp>
        <p:nvSpPr>
          <p:cNvPr id="4" name="Shape 2"/>
          <p:cNvSpPr/>
          <p:nvPr/>
        </p:nvSpPr>
        <p:spPr>
          <a:xfrm>
            <a:off x="685800" y="1965960"/>
            <a:ext cx="5852160" cy="2788920"/>
          </a:xfrm>
          <a:prstGeom prst="roundRect">
            <a:avLst>
              <a:gd name="adj" fmla="val 3934"/>
            </a:avLst>
          </a:prstGeom>
          <a:solidFill>
            <a:srgbClr val="FFFFFF"/>
          </a:solidFill>
          <a:ln w="12700">
            <a:solidFill>
              <a:srgbClr val="3BB27A"/>
            </a:solidFill>
            <a:prstDash val="solid"/>
          </a:ln>
          <a:effectLst>
            <a:outerShdw sx="100000" sy="100000" kx="0" ky="0" algn="bl" rotWithShape="0" blurRad="177800" dist="38100" dir="5400000">
              <a:srgbClr val="0B1220">
                <a:alpha val="16000"/>
              </a:srgbClr>
            </a:outerShdw>
          </a:effectLst>
        </p:spPr>
      </p:sp>
      <p:sp>
        <p:nvSpPr>
          <p:cNvPr id="5" name="Text 3"/>
          <p:cNvSpPr/>
          <p:nvPr/>
        </p:nvSpPr>
        <p:spPr>
          <a:xfrm>
            <a:off x="1051560" y="2194560"/>
            <a:ext cx="5120640" cy="274320"/>
          </a:xfrm>
          <a:prstGeom prst="rect">
            <a:avLst/>
          </a:prstGeom>
          <a:noFill/>
          <a:ln/>
        </p:spPr>
        <p:txBody>
          <a:bodyPr wrap="square" lIns="0" tIns="0" rIns="0" bIns="0" rtlCol="0" anchor="ctr"/>
          <a:lstStyle/>
          <a:p>
            <a:pPr indent="0" marL="0">
              <a:buNone/>
            </a:pPr>
            <a:r>
              <a:rPr lang="en-US" sz="1100" b="1" dirty="0">
                <a:solidFill>
                  <a:srgbClr val="6B7B92"/>
                </a:solidFill>
                <a:latin typeface="Calibri" pitchFamily="34" charset="0"/>
                <a:ea typeface="Calibri" pitchFamily="34" charset="-122"/>
                <a:cs typeface="Calibri" pitchFamily="34" charset="-120"/>
              </a:rPr>
              <a:t>Rule R3 reports</a:t>
            </a:r>
            <a:endParaRPr lang="en-US" sz="1100" dirty="0"/>
          </a:p>
        </p:txBody>
      </p:sp>
      <p:sp>
        <p:nvSpPr>
          <p:cNvPr id="6" name="Text 4"/>
          <p:cNvSpPr/>
          <p:nvPr/>
        </p:nvSpPr>
        <p:spPr>
          <a:xfrm>
            <a:off x="1051560" y="2487168"/>
            <a:ext cx="5120640" cy="594360"/>
          </a:xfrm>
          <a:prstGeom prst="rect">
            <a:avLst/>
          </a:prstGeom>
          <a:noFill/>
          <a:ln/>
        </p:spPr>
        <p:txBody>
          <a:bodyPr wrap="square" lIns="0" tIns="0" rIns="0" bIns="0" rtlCol="0" anchor="ctr"/>
          <a:lstStyle/>
          <a:p>
            <a:pPr indent="0" marL="0">
              <a:lnSpc>
                <a:spcPts val="2100"/>
              </a:lnSpc>
              <a:buNone/>
            </a:pPr>
            <a:r>
              <a:rPr lang="en-US" sz="1500" dirty="0">
                <a:solidFill>
                  <a:srgbClr val="1F2A37"/>
                </a:solidFill>
                <a:latin typeface="Cambria" pitchFamily="34" charset="0"/>
                <a:ea typeface="Cambria" pitchFamily="34" charset="-122"/>
                <a:cs typeface="Cambria" pitchFamily="34" charset="-120"/>
              </a:rPr>
              <a:t>“Every one of Maia's last 6 Mondays sits below her own median.”</a:t>
            </a:r>
            <a:endParaRPr lang="en-US" sz="1500" dirty="0"/>
          </a:p>
        </p:txBody>
      </p:sp>
      <p:sp>
        <p:nvSpPr>
          <p:cNvPr id="7" name="Shape 5"/>
          <p:cNvSpPr/>
          <p:nvPr/>
        </p:nvSpPr>
        <p:spPr>
          <a:xfrm>
            <a:off x="1051560" y="3246120"/>
            <a:ext cx="5120640" cy="0"/>
          </a:xfrm>
          <a:prstGeom prst="line">
            <a:avLst/>
          </a:prstGeom>
          <a:noFill/>
          <a:ln w="12700">
            <a:solidFill>
              <a:srgbClr val="E2EAF4"/>
            </a:solidFill>
            <a:prstDash val="solid"/>
          </a:ln>
        </p:spPr>
      </p:sp>
      <p:sp>
        <p:nvSpPr>
          <p:cNvPr id="8" name="Text 6"/>
          <p:cNvSpPr/>
          <p:nvPr/>
        </p:nvSpPr>
        <p:spPr>
          <a:xfrm>
            <a:off x="1051560" y="3383280"/>
            <a:ext cx="5120640" cy="274320"/>
          </a:xfrm>
          <a:prstGeom prst="rect">
            <a:avLst/>
          </a:prstGeom>
          <a:noFill/>
          <a:ln/>
        </p:spPr>
        <p:txBody>
          <a:bodyPr wrap="square" lIns="0" tIns="0" rIns="0" bIns="0" rtlCol="0" anchor="ctr"/>
          <a:lstStyle/>
          <a:p>
            <a:pPr indent="0" marL="0">
              <a:buNone/>
            </a:pPr>
            <a:r>
              <a:rPr lang="en-US" sz="1100" b="1" dirty="0">
                <a:solidFill>
                  <a:srgbClr val="3BB27A"/>
                </a:solidFill>
                <a:latin typeface="Calibri" pitchFamily="34" charset="0"/>
                <a:ea typeface="Calibri" pitchFamily="34" charset="-122"/>
                <a:cs typeface="Calibri" pitchFamily="34" charset="-120"/>
              </a:rPr>
              <a:t>Her mum wrote, months ago</a:t>
            </a:r>
            <a:endParaRPr lang="en-US" sz="1100" dirty="0"/>
          </a:p>
        </p:txBody>
      </p:sp>
      <p:sp>
        <p:nvSpPr>
          <p:cNvPr id="9" name="Text 7"/>
          <p:cNvSpPr/>
          <p:nvPr/>
        </p:nvSpPr>
        <p:spPr>
          <a:xfrm>
            <a:off x="1051560" y="3675888"/>
            <a:ext cx="5120640" cy="868680"/>
          </a:xfrm>
          <a:prstGeom prst="rect">
            <a:avLst/>
          </a:prstGeom>
          <a:noFill/>
          <a:ln/>
        </p:spPr>
        <p:txBody>
          <a:bodyPr wrap="square" lIns="0" tIns="0" rIns="0" bIns="0" rtlCol="0" anchor="ctr"/>
          <a:lstStyle/>
          <a:p>
            <a:pPr indent="0" marL="0">
              <a:lnSpc>
                <a:spcPts val="2100"/>
              </a:lnSpc>
              <a:buNone/>
            </a:pPr>
            <a:r>
              <a:rPr lang="en-US" sz="1500" i="1" dirty="0">
                <a:solidFill>
                  <a:srgbClr val="1F2A37"/>
                </a:solidFill>
                <a:latin typeface="Cambria" pitchFamily="34" charset="0"/>
                <a:ea typeface="Cambria" pitchFamily="34" charset="-122"/>
                <a:cs typeface="Cambria" pitchFamily="34" charset="-120"/>
              </a:rPr>
              <a:t>“Swimming is Monday, first period. It's the changing rooms she can't stand, not the swimming.”</a:t>
            </a:r>
            <a:endParaRPr lang="en-US" sz="1500" dirty="0"/>
          </a:p>
        </p:txBody>
      </p:sp>
      <p:sp>
        <p:nvSpPr>
          <p:cNvPr id="10" name="Shape 8"/>
          <p:cNvSpPr/>
          <p:nvPr/>
        </p:nvSpPr>
        <p:spPr>
          <a:xfrm>
            <a:off x="6812280" y="1965960"/>
            <a:ext cx="4663440" cy="621792"/>
          </a:xfrm>
          <a:prstGeom prst="roundRect">
            <a:avLst>
              <a:gd name="adj" fmla="val 17647"/>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1" name="Text 9"/>
          <p:cNvSpPr/>
          <p:nvPr/>
        </p:nvSpPr>
        <p:spPr>
          <a:xfrm>
            <a:off x="7086600" y="2002536"/>
            <a:ext cx="4206240" cy="256032"/>
          </a:xfrm>
          <a:prstGeom prst="rect">
            <a:avLst/>
          </a:prstGeom>
          <a:noFill/>
          <a:ln/>
        </p:spPr>
        <p:txBody>
          <a:bodyPr wrap="square" lIns="0" tIns="0" rIns="0" bIns="0" rtlCol="0" anchor="ctr"/>
          <a:lstStyle/>
          <a:p>
            <a:pPr indent="0" marL="0">
              <a:buNone/>
            </a:pPr>
            <a:r>
              <a:rPr lang="en-US" sz="1300" b="1" dirty="0">
                <a:solidFill>
                  <a:srgbClr val="1F2A37"/>
                </a:solidFill>
                <a:latin typeface="Cambria" pitchFamily="34" charset="0"/>
                <a:ea typeface="Cambria" pitchFamily="34" charset="-122"/>
                <a:cs typeface="Cambria" pitchFamily="34" charset="-120"/>
              </a:rPr>
              <a:t>Never a diagnosis</a:t>
            </a:r>
            <a:endParaRPr lang="en-US" sz="1300" dirty="0"/>
          </a:p>
        </p:txBody>
      </p:sp>
      <p:sp>
        <p:nvSpPr>
          <p:cNvPr id="12" name="Text 10"/>
          <p:cNvSpPr/>
          <p:nvPr/>
        </p:nvSpPr>
        <p:spPr>
          <a:xfrm>
            <a:off x="7086600" y="2267712"/>
            <a:ext cx="4206240" cy="274320"/>
          </a:xfrm>
          <a:prstGeom prst="rect">
            <a:avLst/>
          </a:prstGeom>
          <a:noFill/>
          <a:ln/>
        </p:spPr>
        <p:txBody>
          <a:bodyPr wrap="square" lIns="0" tIns="0" rIns="0" bIns="0" rtlCol="0" anchor="ctr"/>
          <a:lstStyle/>
          <a:p>
            <a:pPr indent="0" marL="0">
              <a:buNone/>
            </a:pPr>
            <a:r>
              <a:rPr lang="en-US" sz="1050" dirty="0">
                <a:solidFill>
                  <a:srgbClr val="6B7B92"/>
                </a:solidFill>
                <a:latin typeface="Calibri" pitchFamily="34" charset="0"/>
                <a:ea typeface="Calibri" pitchFamily="34" charset="-122"/>
                <a:cs typeface="Calibri" pitchFamily="34" charset="-120"/>
              </a:rPr>
              <a:t>Sunny detects a moved number. It never labels a child.</a:t>
            </a:r>
            <a:endParaRPr lang="en-US" sz="1050" dirty="0"/>
          </a:p>
        </p:txBody>
      </p:sp>
      <p:sp>
        <p:nvSpPr>
          <p:cNvPr id="13" name="Shape 11"/>
          <p:cNvSpPr/>
          <p:nvPr/>
        </p:nvSpPr>
        <p:spPr>
          <a:xfrm>
            <a:off x="6812280" y="2679192"/>
            <a:ext cx="4663440" cy="621792"/>
          </a:xfrm>
          <a:prstGeom prst="roundRect">
            <a:avLst>
              <a:gd name="adj" fmla="val 17647"/>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4" name="Text 12"/>
          <p:cNvSpPr/>
          <p:nvPr/>
        </p:nvSpPr>
        <p:spPr>
          <a:xfrm>
            <a:off x="7086600" y="2715768"/>
            <a:ext cx="4206240" cy="256032"/>
          </a:xfrm>
          <a:prstGeom prst="rect">
            <a:avLst/>
          </a:prstGeom>
          <a:noFill/>
          <a:ln/>
        </p:spPr>
        <p:txBody>
          <a:bodyPr wrap="square" lIns="0" tIns="0" rIns="0" bIns="0" rtlCol="0" anchor="ctr"/>
          <a:lstStyle/>
          <a:p>
            <a:pPr indent="0" marL="0">
              <a:buNone/>
            </a:pPr>
            <a:r>
              <a:rPr lang="en-US" sz="1300" b="1" dirty="0">
                <a:solidFill>
                  <a:srgbClr val="1F2A37"/>
                </a:solidFill>
                <a:latin typeface="Cambria" pitchFamily="34" charset="0"/>
                <a:ea typeface="Cambria" pitchFamily="34" charset="-122"/>
                <a:cs typeface="Cambria" pitchFamily="34" charset="-120"/>
              </a:rPr>
              <a:t>Human in the loop</a:t>
            </a:r>
            <a:endParaRPr lang="en-US" sz="1300" dirty="0"/>
          </a:p>
        </p:txBody>
      </p:sp>
      <p:sp>
        <p:nvSpPr>
          <p:cNvPr id="15" name="Text 13"/>
          <p:cNvSpPr/>
          <p:nvPr/>
        </p:nvSpPr>
        <p:spPr>
          <a:xfrm>
            <a:off x="7086600" y="2980944"/>
            <a:ext cx="4206240" cy="274320"/>
          </a:xfrm>
          <a:prstGeom prst="rect">
            <a:avLst/>
          </a:prstGeom>
          <a:noFill/>
          <a:ln/>
        </p:spPr>
        <p:txBody>
          <a:bodyPr wrap="square" lIns="0" tIns="0" rIns="0" bIns="0" rtlCol="0" anchor="ctr"/>
          <a:lstStyle/>
          <a:p>
            <a:pPr indent="0" marL="0">
              <a:buNone/>
            </a:pPr>
            <a:r>
              <a:rPr lang="en-US" sz="1050" dirty="0">
                <a:solidFill>
                  <a:srgbClr val="6B7B92"/>
                </a:solidFill>
                <a:latin typeface="Calibri" pitchFamily="34" charset="0"/>
                <a:ea typeface="Calibri" pitchFamily="34" charset="-122"/>
                <a:cs typeface="Calibri" pitchFamily="34" charset="-120"/>
              </a:rPr>
              <a:t>Every signal ends in a person's decision.</a:t>
            </a:r>
            <a:endParaRPr lang="en-US" sz="1050" dirty="0"/>
          </a:p>
        </p:txBody>
      </p:sp>
      <p:sp>
        <p:nvSpPr>
          <p:cNvPr id="16" name="Shape 14"/>
          <p:cNvSpPr/>
          <p:nvPr/>
        </p:nvSpPr>
        <p:spPr>
          <a:xfrm>
            <a:off x="6812280" y="3392424"/>
            <a:ext cx="4663440" cy="621792"/>
          </a:xfrm>
          <a:prstGeom prst="roundRect">
            <a:avLst>
              <a:gd name="adj" fmla="val 17647"/>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7" name="Text 15"/>
          <p:cNvSpPr/>
          <p:nvPr/>
        </p:nvSpPr>
        <p:spPr>
          <a:xfrm>
            <a:off x="7086600" y="3429000"/>
            <a:ext cx="4206240" cy="256032"/>
          </a:xfrm>
          <a:prstGeom prst="rect">
            <a:avLst/>
          </a:prstGeom>
          <a:noFill/>
          <a:ln/>
        </p:spPr>
        <p:txBody>
          <a:bodyPr wrap="square" lIns="0" tIns="0" rIns="0" bIns="0" rtlCol="0" anchor="ctr"/>
          <a:lstStyle/>
          <a:p>
            <a:pPr indent="0" marL="0">
              <a:buNone/>
            </a:pPr>
            <a:r>
              <a:rPr lang="en-US" sz="1300" b="1" dirty="0">
                <a:solidFill>
                  <a:srgbClr val="1F2A37"/>
                </a:solidFill>
                <a:latin typeface="Cambria" pitchFamily="34" charset="0"/>
                <a:ea typeface="Cambria" pitchFamily="34" charset="-122"/>
                <a:cs typeface="Cambria" pitchFamily="34" charset="-120"/>
              </a:rPr>
              <a:t>Escalation is manual</a:t>
            </a:r>
            <a:endParaRPr lang="en-US" sz="1300" dirty="0"/>
          </a:p>
        </p:txBody>
      </p:sp>
      <p:sp>
        <p:nvSpPr>
          <p:cNvPr id="18" name="Text 16"/>
          <p:cNvSpPr/>
          <p:nvPr/>
        </p:nvSpPr>
        <p:spPr>
          <a:xfrm>
            <a:off x="7086600" y="3694176"/>
            <a:ext cx="4206240" cy="274320"/>
          </a:xfrm>
          <a:prstGeom prst="rect">
            <a:avLst/>
          </a:prstGeom>
          <a:noFill/>
          <a:ln/>
        </p:spPr>
        <p:txBody>
          <a:bodyPr wrap="square" lIns="0" tIns="0" rIns="0" bIns="0" rtlCol="0" anchor="ctr"/>
          <a:lstStyle/>
          <a:p>
            <a:pPr indent="0" marL="0">
              <a:buNone/>
            </a:pPr>
            <a:r>
              <a:rPr lang="en-US" sz="1050" dirty="0">
                <a:solidFill>
                  <a:srgbClr val="6B7B92"/>
                </a:solidFill>
                <a:latin typeface="Calibri" pitchFamily="34" charset="0"/>
                <a:ea typeface="Calibri" pitchFamily="34" charset="-122"/>
                <a:cs typeface="Calibri" pitchFamily="34" charset="-120"/>
              </a:rPr>
              <a:t>The teacher sees what gets sent, and what never does.</a:t>
            </a:r>
            <a:endParaRPr lang="en-US" sz="1050" dirty="0"/>
          </a:p>
        </p:txBody>
      </p:sp>
      <p:sp>
        <p:nvSpPr>
          <p:cNvPr id="19" name="Shape 17"/>
          <p:cNvSpPr/>
          <p:nvPr/>
        </p:nvSpPr>
        <p:spPr>
          <a:xfrm>
            <a:off x="6812280" y="4105656"/>
            <a:ext cx="4663440" cy="621792"/>
          </a:xfrm>
          <a:prstGeom prst="roundRect">
            <a:avLst>
              <a:gd name="adj" fmla="val 17647"/>
            </a:avLst>
          </a:prstGeom>
          <a:solidFill>
            <a:srgbClr val="FFFFFF"/>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20" name="Text 18"/>
          <p:cNvSpPr/>
          <p:nvPr/>
        </p:nvSpPr>
        <p:spPr>
          <a:xfrm>
            <a:off x="7086600" y="4142232"/>
            <a:ext cx="4206240" cy="256032"/>
          </a:xfrm>
          <a:prstGeom prst="rect">
            <a:avLst/>
          </a:prstGeom>
          <a:noFill/>
          <a:ln/>
        </p:spPr>
        <p:txBody>
          <a:bodyPr wrap="square" lIns="0" tIns="0" rIns="0" bIns="0" rtlCol="0" anchor="ctr"/>
          <a:lstStyle/>
          <a:p>
            <a:pPr indent="0" marL="0">
              <a:buNone/>
            </a:pPr>
            <a:r>
              <a:rPr lang="en-US" sz="1300" b="1" dirty="0">
                <a:solidFill>
                  <a:srgbClr val="1F2A37"/>
                </a:solidFill>
                <a:latin typeface="Cambria" pitchFamily="34" charset="0"/>
                <a:ea typeface="Cambria" pitchFamily="34" charset="-122"/>
                <a:cs typeface="Cambria" pitchFamily="34" charset="-120"/>
              </a:rPr>
              <a:t>Minimal data</a:t>
            </a:r>
            <a:endParaRPr lang="en-US" sz="1300" dirty="0"/>
          </a:p>
        </p:txBody>
      </p:sp>
      <p:sp>
        <p:nvSpPr>
          <p:cNvPr id="21" name="Text 19"/>
          <p:cNvSpPr/>
          <p:nvPr/>
        </p:nvSpPr>
        <p:spPr>
          <a:xfrm>
            <a:off x="7086600" y="4407408"/>
            <a:ext cx="4206240" cy="274320"/>
          </a:xfrm>
          <a:prstGeom prst="rect">
            <a:avLst/>
          </a:prstGeom>
          <a:noFill/>
          <a:ln/>
        </p:spPr>
        <p:txBody>
          <a:bodyPr wrap="square" lIns="0" tIns="0" rIns="0" bIns="0" rtlCol="0" anchor="ctr"/>
          <a:lstStyle/>
          <a:p>
            <a:pPr indent="0" marL="0">
              <a:buNone/>
            </a:pPr>
            <a:r>
              <a:rPr lang="en-US" sz="1050" dirty="0">
                <a:solidFill>
                  <a:srgbClr val="6B7B92"/>
                </a:solidFill>
                <a:latin typeface="Calibri" pitchFamily="34" charset="0"/>
                <a:ea typeface="Calibri" pitchFamily="34" charset="-122"/>
                <a:cs typeface="Calibri" pitchFamily="34" charset="-120"/>
              </a:rPr>
              <a:t>One tap, no free text. Deleted after 30 days.</a:t>
            </a:r>
            <a:endParaRPr lang="en-US" sz="1050" dirty="0"/>
          </a:p>
        </p:txBody>
      </p:sp>
      <p:sp>
        <p:nvSpPr>
          <p:cNvPr id="22" name="Shape 20"/>
          <p:cNvSpPr/>
          <p:nvPr/>
        </p:nvSpPr>
        <p:spPr>
          <a:xfrm>
            <a:off x="685800" y="5029200"/>
            <a:ext cx="10789920" cy="777240"/>
          </a:xfrm>
          <a:prstGeom prst="roundRect">
            <a:avLst>
              <a:gd name="adj" fmla="val 14118"/>
            </a:avLst>
          </a:prstGeom>
          <a:solidFill>
            <a:srgbClr val="21304F"/>
          </a:solidFill>
          <a:ln/>
          <a:effectLst>
            <a:outerShdw sx="100000" sy="100000" kx="0" ky="0" algn="bl" rotWithShape="0" blurRad="177800" dist="38100" dir="5400000">
              <a:srgbClr val="0B1220">
                <a:alpha val="16000"/>
              </a:srgbClr>
            </a:outerShdw>
          </a:effectLst>
        </p:spPr>
      </p:sp>
      <p:sp>
        <p:nvSpPr>
          <p:cNvPr id="23" name="Text 21"/>
          <p:cNvSpPr/>
          <p:nvPr/>
        </p:nvSpPr>
        <p:spPr>
          <a:xfrm>
            <a:off x="1005840" y="5029200"/>
            <a:ext cx="10149840" cy="77724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The people who know the child outrank the model. That ordering is on screen, not just in our heads.</a:t>
            </a:r>
            <a:endParaRPr lang="en-US" sz="1600" dirty="0"/>
          </a:p>
        </p:txBody>
      </p:sp>
      <p:sp>
        <p:nvSpPr>
          <p:cNvPr id="24" name="Text 22"/>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7B92"/>
                </a:solidFill>
                <a:latin typeface="Calibri" pitchFamily="34" charset="0"/>
                <a:ea typeface="Calibri" pitchFamily="34" charset="-122"/>
                <a:cs typeface="Calibri" pitchFamily="34" charset="-120"/>
              </a:rPr>
              <a:t>Safeguarding by design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10789920" cy="777240"/>
          </a:xfrm>
          <a:prstGeom prst="rect">
            <a:avLst/>
          </a:prstGeom>
          <a:noFill/>
          <a:ln/>
        </p:spPr>
        <p:txBody>
          <a:bodyPr wrap="square" lIns="0" tIns="0" rIns="0" bIns="0" rtlCol="0" anchor="ctr"/>
          <a:lstStyle/>
          <a:p>
            <a:pPr indent="0" marL="0">
              <a:buNone/>
            </a:pPr>
            <a:r>
              <a:rPr lang="en-US" sz="3600" b="1" dirty="0">
                <a:solidFill>
                  <a:srgbClr val="1F2A37"/>
                </a:solidFill>
                <a:latin typeface="Cambria" pitchFamily="34" charset="0"/>
                <a:ea typeface="Cambria" pitchFamily="34" charset="-122"/>
                <a:cs typeface="Cambria" pitchFamily="34" charset="-120"/>
              </a:rPr>
              <a:t>Who pays, and where it goes</a:t>
            </a:r>
            <a:endParaRPr lang="en-US" sz="3600" dirty="0"/>
          </a:p>
        </p:txBody>
      </p:sp>
      <p:sp>
        <p:nvSpPr>
          <p:cNvPr id="3" name="Text 1"/>
          <p:cNvSpPr/>
          <p:nvPr/>
        </p:nvSpPr>
        <p:spPr>
          <a:xfrm>
            <a:off x="685800" y="1197864"/>
            <a:ext cx="10789920" cy="384048"/>
          </a:xfrm>
          <a:prstGeom prst="rect">
            <a:avLst/>
          </a:prstGeom>
          <a:noFill/>
          <a:ln/>
        </p:spPr>
        <p:txBody>
          <a:bodyPr wrap="square" lIns="0" tIns="0" rIns="0" bIns="0" rtlCol="0" anchor="ctr"/>
          <a:lstStyle/>
          <a:p>
            <a:pPr indent="0" marL="0">
              <a:buNone/>
            </a:pPr>
            <a:r>
              <a:rPr lang="en-US" sz="1500" dirty="0">
                <a:solidFill>
                  <a:srgbClr val="6B7B92"/>
                </a:solidFill>
                <a:latin typeface="Calibri" pitchFamily="34" charset="0"/>
                <a:ea typeface="Calibri" pitchFamily="34" charset="-122"/>
                <a:cs typeface="Calibri" pitchFamily="34" charset="-120"/>
              </a:rPr>
              <a:t>Sold into wellbeing and pastoral budgets — not IT budgets.</a:t>
            </a:r>
            <a:endParaRPr lang="en-US" sz="1500" dirty="0"/>
          </a:p>
        </p:txBody>
      </p:sp>
      <p:sp>
        <p:nvSpPr>
          <p:cNvPr id="4" name="Shape 2"/>
          <p:cNvSpPr/>
          <p:nvPr/>
        </p:nvSpPr>
        <p:spPr>
          <a:xfrm>
            <a:off x="685800" y="1965960"/>
            <a:ext cx="5852160" cy="658368"/>
          </a:xfrm>
          <a:prstGeom prst="roundRect">
            <a:avLst>
              <a:gd name="adj" fmla="val 1666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5" name="Text 3"/>
          <p:cNvSpPr/>
          <p:nvPr/>
        </p:nvSpPr>
        <p:spPr>
          <a:xfrm>
            <a:off x="1005840" y="1965960"/>
            <a:ext cx="1188720" cy="658368"/>
          </a:xfrm>
          <a:prstGeom prst="rect">
            <a:avLst/>
          </a:prstGeom>
          <a:noFill/>
          <a:ln/>
        </p:spPr>
        <p:txBody>
          <a:bodyPr wrap="square" lIns="0" tIns="0" rIns="0" bIns="0" rtlCol="0" anchor="ctr"/>
          <a:lstStyle/>
          <a:p>
            <a:pPr indent="0" marL="0">
              <a:buNone/>
            </a:pPr>
            <a:r>
              <a:rPr lang="en-US" sz="1400" b="1" dirty="0">
                <a:solidFill>
                  <a:srgbClr val="5B8DEF"/>
                </a:solidFill>
                <a:latin typeface="Cambria" pitchFamily="34" charset="0"/>
                <a:ea typeface="Cambria" pitchFamily="34" charset="-122"/>
                <a:cs typeface="Cambria" pitchFamily="34" charset="-120"/>
              </a:rPr>
              <a:t>Buyer</a:t>
            </a:r>
            <a:endParaRPr lang="en-US" sz="1400" dirty="0"/>
          </a:p>
        </p:txBody>
      </p:sp>
      <p:sp>
        <p:nvSpPr>
          <p:cNvPr id="6" name="Text 4"/>
          <p:cNvSpPr/>
          <p:nvPr/>
        </p:nvSpPr>
        <p:spPr>
          <a:xfrm>
            <a:off x="2240280" y="1965960"/>
            <a:ext cx="4114800" cy="658368"/>
          </a:xfrm>
          <a:prstGeom prst="rect">
            <a:avLst/>
          </a:prstGeom>
          <a:noFill/>
          <a:ln/>
        </p:spPr>
        <p:txBody>
          <a:bodyPr wrap="square" lIns="0" tIns="0" rIns="0" bIns="0" rtlCol="0" anchor="ctr"/>
          <a:lstStyle/>
          <a:p>
            <a:pPr indent="0" marL="0">
              <a:buNone/>
            </a:pPr>
            <a:r>
              <a:rPr lang="en-US" sz="1150" dirty="0">
                <a:solidFill>
                  <a:srgbClr val="6B7B92"/>
                </a:solidFill>
                <a:latin typeface="Calibri" pitchFamily="34" charset="0"/>
                <a:ea typeface="Calibri" pitchFamily="34" charset="-122"/>
                <a:cs typeface="Calibri" pitchFamily="34" charset="-120"/>
              </a:rPr>
              <a:t>The wellbeing lead or principal. A pastoral tool that happens to be software.</a:t>
            </a:r>
            <a:endParaRPr lang="en-US" sz="1150" dirty="0"/>
          </a:p>
        </p:txBody>
      </p:sp>
      <p:sp>
        <p:nvSpPr>
          <p:cNvPr id="7" name="Shape 5"/>
          <p:cNvSpPr/>
          <p:nvPr/>
        </p:nvSpPr>
        <p:spPr>
          <a:xfrm>
            <a:off x="685800" y="2743200"/>
            <a:ext cx="5852160" cy="658368"/>
          </a:xfrm>
          <a:prstGeom prst="roundRect">
            <a:avLst>
              <a:gd name="adj" fmla="val 1666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8" name="Text 6"/>
          <p:cNvSpPr/>
          <p:nvPr/>
        </p:nvSpPr>
        <p:spPr>
          <a:xfrm>
            <a:off x="1005840" y="2743200"/>
            <a:ext cx="1188720" cy="658368"/>
          </a:xfrm>
          <a:prstGeom prst="rect">
            <a:avLst/>
          </a:prstGeom>
          <a:noFill/>
          <a:ln/>
        </p:spPr>
        <p:txBody>
          <a:bodyPr wrap="square" lIns="0" tIns="0" rIns="0" bIns="0" rtlCol="0" anchor="ctr"/>
          <a:lstStyle/>
          <a:p>
            <a:pPr indent="0" marL="0">
              <a:buNone/>
            </a:pPr>
            <a:r>
              <a:rPr lang="en-US" sz="1400" b="1" dirty="0">
                <a:solidFill>
                  <a:srgbClr val="5B8DEF"/>
                </a:solidFill>
                <a:latin typeface="Cambria" pitchFamily="34" charset="0"/>
                <a:ea typeface="Cambria" pitchFamily="34" charset="-122"/>
                <a:cs typeface="Cambria" pitchFamily="34" charset="-120"/>
              </a:rPr>
              <a:t>Model</a:t>
            </a:r>
            <a:endParaRPr lang="en-US" sz="1400" dirty="0"/>
          </a:p>
        </p:txBody>
      </p:sp>
      <p:sp>
        <p:nvSpPr>
          <p:cNvPr id="9" name="Text 7"/>
          <p:cNvSpPr/>
          <p:nvPr/>
        </p:nvSpPr>
        <p:spPr>
          <a:xfrm>
            <a:off x="2240280" y="2743200"/>
            <a:ext cx="4114800" cy="658368"/>
          </a:xfrm>
          <a:prstGeom prst="rect">
            <a:avLst/>
          </a:prstGeom>
          <a:noFill/>
          <a:ln/>
        </p:spPr>
        <p:txBody>
          <a:bodyPr wrap="square" lIns="0" tIns="0" rIns="0" bIns="0" rtlCol="0" anchor="ctr"/>
          <a:lstStyle/>
          <a:p>
            <a:pPr indent="0" marL="0">
              <a:buNone/>
            </a:pPr>
            <a:r>
              <a:rPr lang="en-US" sz="1150" dirty="0">
                <a:solidFill>
                  <a:srgbClr val="6B7B92"/>
                </a:solidFill>
                <a:latin typeface="Calibri" pitchFamily="34" charset="0"/>
                <a:ea typeface="Calibri" pitchFamily="34" charset="-122"/>
                <a:cs typeface="Calibri" pitchFamily="34" charset="-120"/>
              </a:rPr>
              <a:t>Per-classroom annual licence. A school can start with one class and expand.</a:t>
            </a:r>
            <a:endParaRPr lang="en-US" sz="1150" dirty="0"/>
          </a:p>
        </p:txBody>
      </p:sp>
      <p:sp>
        <p:nvSpPr>
          <p:cNvPr id="10" name="Shape 8"/>
          <p:cNvSpPr/>
          <p:nvPr/>
        </p:nvSpPr>
        <p:spPr>
          <a:xfrm>
            <a:off x="685800" y="3520440"/>
            <a:ext cx="5852160" cy="658368"/>
          </a:xfrm>
          <a:prstGeom prst="roundRect">
            <a:avLst>
              <a:gd name="adj" fmla="val 16667"/>
            </a:avLst>
          </a:prstGeom>
          <a:solidFill>
            <a:srgbClr val="E8F0FE"/>
          </a:solidFill>
          <a:ln w="12700">
            <a:solidFill>
              <a:srgbClr val="FFC24A"/>
            </a:solidFill>
            <a:prstDash val="solid"/>
          </a:ln>
          <a:effectLst>
            <a:outerShdw sx="100000" sy="100000" kx="0" ky="0" algn="bl" rotWithShape="0" blurRad="177800" dist="38100" dir="5400000">
              <a:srgbClr val="0B1220">
                <a:alpha val="16000"/>
              </a:srgbClr>
            </a:outerShdw>
          </a:effectLst>
        </p:spPr>
      </p:sp>
      <p:sp>
        <p:nvSpPr>
          <p:cNvPr id="11" name="Text 9"/>
          <p:cNvSpPr/>
          <p:nvPr/>
        </p:nvSpPr>
        <p:spPr>
          <a:xfrm>
            <a:off x="1005840" y="3520440"/>
            <a:ext cx="1188720" cy="658368"/>
          </a:xfrm>
          <a:prstGeom prst="rect">
            <a:avLst/>
          </a:prstGeom>
          <a:noFill/>
          <a:ln/>
        </p:spPr>
        <p:txBody>
          <a:bodyPr wrap="square" lIns="0" tIns="0" rIns="0" bIns="0" rtlCol="0" anchor="ctr"/>
          <a:lstStyle/>
          <a:p>
            <a:pPr indent="0" marL="0">
              <a:buNone/>
            </a:pPr>
            <a:r>
              <a:rPr lang="en-US" sz="1400" b="1" dirty="0">
                <a:solidFill>
                  <a:srgbClr val="21304F"/>
                </a:solidFill>
                <a:latin typeface="Cambria" pitchFamily="34" charset="0"/>
                <a:ea typeface="Cambria" pitchFamily="34" charset="-122"/>
                <a:cs typeface="Cambria" pitchFamily="34" charset="-120"/>
              </a:rPr>
              <a:t>Why us</a:t>
            </a:r>
            <a:endParaRPr lang="en-US" sz="1400" dirty="0"/>
          </a:p>
        </p:txBody>
      </p:sp>
      <p:sp>
        <p:nvSpPr>
          <p:cNvPr id="12" name="Text 10"/>
          <p:cNvSpPr/>
          <p:nvPr/>
        </p:nvSpPr>
        <p:spPr>
          <a:xfrm>
            <a:off x="2240280" y="3520440"/>
            <a:ext cx="4114800" cy="658368"/>
          </a:xfrm>
          <a:prstGeom prst="rect">
            <a:avLst/>
          </a:prstGeom>
          <a:noFill/>
          <a:ln/>
        </p:spPr>
        <p:txBody>
          <a:bodyPr wrap="square" lIns="0" tIns="0" rIns="0" bIns="0" rtlCol="0" anchor="ctr"/>
          <a:lstStyle/>
          <a:p>
            <a:pPr indent="0" marL="0">
              <a:buNone/>
            </a:pPr>
            <a:r>
              <a:rPr lang="en-US" sz="1150" dirty="0">
                <a:solidFill>
                  <a:srgbClr val="21304F"/>
                </a:solidFill>
                <a:latin typeface="Calibri" pitchFamily="34" charset="0"/>
                <a:ea typeface="Calibri" pitchFamily="34" charset="-122"/>
                <a:cs typeface="Calibri" pitchFamily="34" charset="-120"/>
              </a:rPr>
              <a:t>The option a school can defend to parents, because the detection is auditable arithmetic.</a:t>
            </a:r>
            <a:endParaRPr lang="en-US" sz="1150" dirty="0"/>
          </a:p>
        </p:txBody>
      </p:sp>
      <p:sp>
        <p:nvSpPr>
          <p:cNvPr id="13" name="Shape 11"/>
          <p:cNvSpPr/>
          <p:nvPr/>
        </p:nvSpPr>
        <p:spPr>
          <a:xfrm>
            <a:off x="6812280" y="1965960"/>
            <a:ext cx="4663440" cy="658368"/>
          </a:xfrm>
          <a:prstGeom prst="roundRect">
            <a:avLst>
              <a:gd name="adj" fmla="val 1666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4" name="Shape 12"/>
          <p:cNvSpPr/>
          <p:nvPr/>
        </p:nvSpPr>
        <p:spPr>
          <a:xfrm>
            <a:off x="7059168" y="2066544"/>
            <a:ext cx="457200" cy="457200"/>
          </a:xfrm>
          <a:prstGeom prst="ellipse">
            <a:avLst/>
          </a:prstGeom>
          <a:solidFill>
            <a:srgbClr val="3BB27A"/>
          </a:solidFill>
          <a:ln/>
          <a:effectLst>
            <a:outerShdw sx="100000" sy="100000" kx="0" ky="0" algn="bl" rotWithShape="0" blurRad="177800" dist="38100" dir="5400000">
              <a:srgbClr val="0B1220">
                <a:alpha val="16000"/>
              </a:srgbClr>
            </a:outerShdw>
          </a:effectLst>
        </p:spPr>
      </p:sp>
      <p:sp>
        <p:nvSpPr>
          <p:cNvPr id="15" name="Text 13"/>
          <p:cNvSpPr/>
          <p:nvPr/>
        </p:nvSpPr>
        <p:spPr>
          <a:xfrm>
            <a:off x="7059168" y="20665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6" name="Text 14"/>
          <p:cNvSpPr/>
          <p:nvPr/>
        </p:nvSpPr>
        <p:spPr>
          <a:xfrm>
            <a:off x="7699248" y="1993392"/>
            <a:ext cx="3566160" cy="256032"/>
          </a:xfrm>
          <a:prstGeom prst="rect">
            <a:avLst/>
          </a:prstGeom>
          <a:noFill/>
          <a:ln/>
        </p:spPr>
        <p:txBody>
          <a:bodyPr wrap="square" lIns="0" tIns="0" rIns="0" bIns="0" rtlCol="0" anchor="ctr"/>
          <a:lstStyle/>
          <a:p>
            <a:pPr indent="0" marL="0">
              <a:buNone/>
            </a:pPr>
            <a:r>
              <a:rPr lang="en-US" sz="1250" b="1" dirty="0">
                <a:solidFill>
                  <a:srgbClr val="1F2A37"/>
                </a:solidFill>
                <a:latin typeface="Cambria" pitchFamily="34" charset="0"/>
                <a:ea typeface="Cambria" pitchFamily="34" charset="-122"/>
                <a:cs typeface="Cambria" pitchFamily="34" charset="-120"/>
              </a:rPr>
              <a:t>Level 1 · Today</a:t>
            </a:r>
            <a:endParaRPr lang="en-US" sz="1250" dirty="0"/>
          </a:p>
        </p:txBody>
      </p:sp>
      <p:sp>
        <p:nvSpPr>
          <p:cNvPr id="17" name="Text 15"/>
          <p:cNvSpPr/>
          <p:nvPr/>
        </p:nvSpPr>
        <p:spPr>
          <a:xfrm>
            <a:off x="7699248" y="2258568"/>
            <a:ext cx="3566160" cy="292608"/>
          </a:xfrm>
          <a:prstGeom prst="rect">
            <a:avLst/>
          </a:prstGeom>
          <a:noFill/>
          <a:ln/>
        </p:spPr>
        <p:txBody>
          <a:bodyPr wrap="square" lIns="0" tIns="0" rIns="0" bIns="0" rtlCol="0" anchor="ctr"/>
          <a:lstStyle/>
          <a:p>
            <a:pPr indent="0" marL="0">
              <a:buNone/>
            </a:pPr>
            <a:r>
              <a:rPr lang="en-US" sz="1050" dirty="0">
                <a:solidFill>
                  <a:srgbClr val="6B7B92"/>
                </a:solidFill>
                <a:latin typeface="Calibri" pitchFamily="34" charset="0"/>
                <a:ea typeface="Calibri" pitchFamily="34" charset="-122"/>
                <a:cs typeface="Calibri" pitchFamily="34" charset="-120"/>
              </a:rPr>
              <a:t>Working prototype — you just used it.</a:t>
            </a:r>
            <a:endParaRPr lang="en-US" sz="1050" dirty="0"/>
          </a:p>
        </p:txBody>
      </p:sp>
      <p:sp>
        <p:nvSpPr>
          <p:cNvPr id="18" name="Shape 16"/>
          <p:cNvSpPr/>
          <p:nvPr/>
        </p:nvSpPr>
        <p:spPr>
          <a:xfrm>
            <a:off x="6812280" y="2743200"/>
            <a:ext cx="4663440" cy="658368"/>
          </a:xfrm>
          <a:prstGeom prst="roundRect">
            <a:avLst>
              <a:gd name="adj" fmla="val 1666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19" name="Shape 17"/>
          <p:cNvSpPr/>
          <p:nvPr/>
        </p:nvSpPr>
        <p:spPr>
          <a:xfrm>
            <a:off x="7059168" y="2843784"/>
            <a:ext cx="457200" cy="457200"/>
          </a:xfrm>
          <a:prstGeom prst="ellipse">
            <a:avLst/>
          </a:prstGeom>
          <a:solidFill>
            <a:srgbClr val="FFC24A"/>
          </a:solidFill>
          <a:ln/>
          <a:effectLst>
            <a:outerShdw sx="100000" sy="100000" kx="0" ky="0" algn="bl" rotWithShape="0" blurRad="177800" dist="38100" dir="5400000">
              <a:srgbClr val="0B1220">
                <a:alpha val="16000"/>
              </a:srgbClr>
            </a:outerShdw>
          </a:effectLst>
        </p:spPr>
      </p:sp>
      <p:sp>
        <p:nvSpPr>
          <p:cNvPr id="20" name="Text 18"/>
          <p:cNvSpPr/>
          <p:nvPr/>
        </p:nvSpPr>
        <p:spPr>
          <a:xfrm>
            <a:off x="7059168" y="2843784"/>
            <a:ext cx="457200" cy="457200"/>
          </a:xfrm>
          <a:prstGeom prst="rect">
            <a:avLst/>
          </a:prstGeom>
          <a:noFill/>
          <a:ln/>
        </p:spPr>
        <p:txBody>
          <a:bodyPr wrap="square" lIns="0" tIns="0" rIns="0" bIns="0" rtlCol="0" anchor="ctr"/>
          <a:lstStyle/>
          <a:p>
            <a:pPr algn="ctr" indent="0" marL="0">
              <a:buNone/>
            </a:pPr>
            <a:r>
              <a:rPr lang="en-US" sz="1400" b="1" dirty="0">
                <a:solidFill>
                  <a:srgbClr val="21304F"/>
                </a:solidFill>
                <a:latin typeface="Cambria" pitchFamily="34" charset="0"/>
                <a:ea typeface="Cambria" pitchFamily="34" charset="-122"/>
                <a:cs typeface="Cambria" pitchFamily="34" charset="-120"/>
              </a:rPr>
              <a:t>2</a:t>
            </a:r>
            <a:endParaRPr lang="en-US" sz="1400" dirty="0"/>
          </a:p>
        </p:txBody>
      </p:sp>
      <p:sp>
        <p:nvSpPr>
          <p:cNvPr id="21" name="Text 19"/>
          <p:cNvSpPr/>
          <p:nvPr/>
        </p:nvSpPr>
        <p:spPr>
          <a:xfrm>
            <a:off x="7699248" y="2770632"/>
            <a:ext cx="3566160" cy="256032"/>
          </a:xfrm>
          <a:prstGeom prst="rect">
            <a:avLst/>
          </a:prstGeom>
          <a:noFill/>
          <a:ln/>
        </p:spPr>
        <p:txBody>
          <a:bodyPr wrap="square" lIns="0" tIns="0" rIns="0" bIns="0" rtlCol="0" anchor="ctr"/>
          <a:lstStyle/>
          <a:p>
            <a:pPr indent="0" marL="0">
              <a:buNone/>
            </a:pPr>
            <a:r>
              <a:rPr lang="en-US" sz="1250" b="1" dirty="0">
                <a:solidFill>
                  <a:srgbClr val="1F2A37"/>
                </a:solidFill>
                <a:latin typeface="Cambria" pitchFamily="34" charset="0"/>
                <a:ea typeface="Cambria" pitchFamily="34" charset="-122"/>
                <a:cs typeface="Cambria" pitchFamily="34" charset="-120"/>
              </a:rPr>
              <a:t>Level 2 · This term</a:t>
            </a:r>
            <a:endParaRPr lang="en-US" sz="1250" dirty="0"/>
          </a:p>
        </p:txBody>
      </p:sp>
      <p:sp>
        <p:nvSpPr>
          <p:cNvPr id="22" name="Text 20"/>
          <p:cNvSpPr/>
          <p:nvPr/>
        </p:nvSpPr>
        <p:spPr>
          <a:xfrm>
            <a:off x="7699248" y="3035808"/>
            <a:ext cx="3566160" cy="292608"/>
          </a:xfrm>
          <a:prstGeom prst="rect">
            <a:avLst/>
          </a:prstGeom>
          <a:noFill/>
          <a:ln/>
        </p:spPr>
        <p:txBody>
          <a:bodyPr wrap="square" lIns="0" tIns="0" rIns="0" bIns="0" rtlCol="0" anchor="ctr"/>
          <a:lstStyle/>
          <a:p>
            <a:pPr indent="0" marL="0">
              <a:buNone/>
            </a:pPr>
            <a:r>
              <a:rPr lang="en-US" sz="1050" dirty="0">
                <a:solidFill>
                  <a:srgbClr val="6B7B92"/>
                </a:solidFill>
                <a:latin typeface="Calibri" pitchFamily="34" charset="0"/>
                <a:ea typeface="Calibri" pitchFamily="34" charset="-122"/>
                <a:cs typeface="Calibri" pitchFamily="34" charset="-120"/>
              </a:rPr>
              <a:t>Real storage, live model, one school for a term.</a:t>
            </a:r>
            <a:endParaRPr lang="en-US" sz="1050" dirty="0"/>
          </a:p>
        </p:txBody>
      </p:sp>
      <p:sp>
        <p:nvSpPr>
          <p:cNvPr id="23" name="Shape 21"/>
          <p:cNvSpPr/>
          <p:nvPr/>
        </p:nvSpPr>
        <p:spPr>
          <a:xfrm>
            <a:off x="6812280" y="3520440"/>
            <a:ext cx="4663440" cy="658368"/>
          </a:xfrm>
          <a:prstGeom prst="roundRect">
            <a:avLst>
              <a:gd name="adj" fmla="val 16667"/>
            </a:avLst>
          </a:prstGeom>
          <a:solidFill>
            <a:srgbClr val="F4F7FB"/>
          </a:solidFill>
          <a:ln w="12700">
            <a:solidFill>
              <a:srgbClr val="E2EAF4"/>
            </a:solidFill>
            <a:prstDash val="solid"/>
          </a:ln>
          <a:effectLst>
            <a:outerShdw sx="100000" sy="100000" kx="0" ky="0" algn="bl" rotWithShape="0" blurRad="177800" dist="38100" dir="5400000">
              <a:srgbClr val="0B1220">
                <a:alpha val="16000"/>
              </a:srgbClr>
            </a:outerShdw>
          </a:effectLst>
        </p:spPr>
      </p:sp>
      <p:sp>
        <p:nvSpPr>
          <p:cNvPr id="24" name="Shape 22"/>
          <p:cNvSpPr/>
          <p:nvPr/>
        </p:nvSpPr>
        <p:spPr>
          <a:xfrm>
            <a:off x="7059168" y="3621024"/>
            <a:ext cx="457200" cy="457200"/>
          </a:xfrm>
          <a:prstGeom prst="ellipse">
            <a:avLst/>
          </a:prstGeom>
          <a:solidFill>
            <a:srgbClr val="5B8DEF"/>
          </a:solidFill>
          <a:ln/>
          <a:effectLst>
            <a:outerShdw sx="100000" sy="100000" kx="0" ky="0" algn="bl" rotWithShape="0" blurRad="177800" dist="38100" dir="5400000">
              <a:srgbClr val="0B1220">
                <a:alpha val="16000"/>
              </a:srgbClr>
            </a:outerShdw>
          </a:effectLst>
        </p:spPr>
      </p:sp>
      <p:sp>
        <p:nvSpPr>
          <p:cNvPr id="25" name="Text 23"/>
          <p:cNvSpPr/>
          <p:nvPr/>
        </p:nvSpPr>
        <p:spPr>
          <a:xfrm>
            <a:off x="7059168" y="362102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6" name="Text 24"/>
          <p:cNvSpPr/>
          <p:nvPr/>
        </p:nvSpPr>
        <p:spPr>
          <a:xfrm>
            <a:off x="7699248" y="3547872"/>
            <a:ext cx="3566160" cy="256032"/>
          </a:xfrm>
          <a:prstGeom prst="rect">
            <a:avLst/>
          </a:prstGeom>
          <a:noFill/>
          <a:ln/>
        </p:spPr>
        <p:txBody>
          <a:bodyPr wrap="square" lIns="0" tIns="0" rIns="0" bIns="0" rtlCol="0" anchor="ctr"/>
          <a:lstStyle/>
          <a:p>
            <a:pPr indent="0" marL="0">
              <a:buNone/>
            </a:pPr>
            <a:r>
              <a:rPr lang="en-US" sz="1250" b="1" dirty="0">
                <a:solidFill>
                  <a:srgbClr val="1F2A37"/>
                </a:solidFill>
                <a:latin typeface="Cambria" pitchFamily="34" charset="0"/>
                <a:ea typeface="Cambria" pitchFamily="34" charset="-122"/>
                <a:cs typeface="Cambria" pitchFamily="34" charset="-120"/>
              </a:rPr>
              <a:t>Level 3 · 2027</a:t>
            </a:r>
            <a:endParaRPr lang="en-US" sz="1250" dirty="0"/>
          </a:p>
        </p:txBody>
      </p:sp>
      <p:sp>
        <p:nvSpPr>
          <p:cNvPr id="27" name="Text 25"/>
          <p:cNvSpPr/>
          <p:nvPr/>
        </p:nvSpPr>
        <p:spPr>
          <a:xfrm>
            <a:off x="7699248" y="3813048"/>
            <a:ext cx="3566160" cy="292608"/>
          </a:xfrm>
          <a:prstGeom prst="rect">
            <a:avLst/>
          </a:prstGeom>
          <a:noFill/>
          <a:ln/>
        </p:spPr>
        <p:txBody>
          <a:bodyPr wrap="square" lIns="0" tIns="0" rIns="0" bIns="0" rtlCol="0" anchor="ctr"/>
          <a:lstStyle/>
          <a:p>
            <a:pPr indent="0" marL="0">
              <a:buNone/>
            </a:pPr>
            <a:r>
              <a:rPr lang="en-US" sz="1050" dirty="0">
                <a:solidFill>
                  <a:srgbClr val="6B7B92"/>
                </a:solidFill>
                <a:latin typeface="Calibri" pitchFamily="34" charset="0"/>
                <a:ea typeface="Calibri" pitchFamily="34" charset="-122"/>
                <a:cs typeface="Calibri" pitchFamily="34" charset="-120"/>
              </a:rPr>
              <a:t>Accounts, compliance, escalation routing.</a:t>
            </a:r>
            <a:endParaRPr lang="en-US" sz="1050" dirty="0"/>
          </a:p>
        </p:txBody>
      </p:sp>
      <p:sp>
        <p:nvSpPr>
          <p:cNvPr id="28" name="Shape 26"/>
          <p:cNvSpPr/>
          <p:nvPr/>
        </p:nvSpPr>
        <p:spPr>
          <a:xfrm>
            <a:off x="685800" y="4526280"/>
            <a:ext cx="10789920" cy="822960"/>
          </a:xfrm>
          <a:prstGeom prst="roundRect">
            <a:avLst>
              <a:gd name="adj" fmla="val 13333"/>
            </a:avLst>
          </a:prstGeom>
          <a:solidFill>
            <a:srgbClr val="21304F"/>
          </a:solidFill>
          <a:ln/>
          <a:effectLst>
            <a:outerShdw sx="100000" sy="100000" kx="0" ky="0" algn="bl" rotWithShape="0" blurRad="177800" dist="38100" dir="5400000">
              <a:srgbClr val="0B1220">
                <a:alpha val="16000"/>
              </a:srgbClr>
            </a:outerShdw>
          </a:effectLst>
        </p:spPr>
      </p:sp>
      <p:sp>
        <p:nvSpPr>
          <p:cNvPr id="29" name="Text 27"/>
          <p:cNvSpPr/>
          <p:nvPr/>
        </p:nvSpPr>
        <p:spPr>
          <a:xfrm>
            <a:off x="1005840" y="4526280"/>
            <a:ext cx="10149840" cy="822960"/>
          </a:xfrm>
          <a:prstGeom prst="rect">
            <a:avLst/>
          </a:prstGeom>
          <a:noFill/>
          <a:ln/>
        </p:spPr>
        <p:txBody>
          <a:bodyPr wrap="square" lIns="0" tIns="0" rIns="0" bIns="0" rtlCol="0" anchor="ctr"/>
          <a:lstStyle/>
          <a:p>
            <a:pPr indent="0" marL="0">
              <a:buNone/>
            </a:pPr>
            <a:r>
              <a:rPr lang="en-US" sz="1600" b="1" dirty="0">
                <a:solidFill>
                  <a:srgbClr val="FFC24A"/>
                </a:solidFill>
                <a:latin typeface="Cambria" pitchFamily="34" charset="0"/>
                <a:ea typeface="Cambria" pitchFamily="34" charset="-122"/>
                <a:cs typeface="Cambria" pitchFamily="34" charset="-120"/>
              </a:rPr>
              <a:t>Detection stays rule-based at every level. Scaling adds reach, never opacity.</a:t>
            </a:r>
            <a:endParaRPr lang="en-US" sz="1600" dirty="0"/>
          </a:p>
        </p:txBody>
      </p:sp>
      <p:sp>
        <p:nvSpPr>
          <p:cNvPr id="30" name="Text 28"/>
          <p:cNvSpPr/>
          <p:nvPr/>
        </p:nvSpPr>
        <p:spPr>
          <a:xfrm>
            <a:off x="685800" y="5532120"/>
            <a:ext cx="10789920" cy="365760"/>
          </a:xfrm>
          <a:prstGeom prst="rect">
            <a:avLst/>
          </a:prstGeom>
          <a:noFill/>
          <a:ln/>
        </p:spPr>
        <p:txBody>
          <a:bodyPr wrap="square" lIns="0" tIns="0" rIns="0" bIns="0" rtlCol="0" anchor="ctr"/>
          <a:lstStyle/>
          <a:p>
            <a:pPr indent="0" marL="0">
              <a:buNone/>
            </a:pPr>
            <a:r>
              <a:rPr lang="en-US" sz="1200" i="1" dirty="0">
                <a:solidFill>
                  <a:srgbClr val="6B7B92"/>
                </a:solidFill>
                <a:latin typeface="Calibri" pitchFamily="34" charset="0"/>
                <a:ea typeface="Calibri" pitchFamily="34" charset="-122"/>
                <a:cs typeface="Calibri" pitchFamily="34" charset="-120"/>
              </a:rPr>
              <a:t>Sustainability: early, low-cost pastoral support costs a school far less — in staff time and in outcomes — than late intervention.</a:t>
            </a:r>
            <a:endParaRPr lang="en-US" sz="1200" dirty="0"/>
          </a:p>
        </p:txBody>
      </p:sp>
      <p:sp>
        <p:nvSpPr>
          <p:cNvPr id="31" name="Text 29"/>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7B92"/>
                </a:solidFill>
                <a:latin typeface="Calibri" pitchFamily="34" charset="0"/>
                <a:ea typeface="Calibri" pitchFamily="34" charset="-122"/>
                <a:cs typeface="Calibri" pitchFamily="34" charset="-120"/>
              </a:rPr>
              <a:t>Business impact &amp; feasibility</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9509760" y="4114800"/>
            <a:ext cx="2011680" cy="2011680"/>
          </a:xfrm>
          <a:prstGeom prst="ellipse">
            <a:avLst/>
          </a:prstGeom>
          <a:solidFill>
            <a:srgbClr val="FFC24A"/>
          </a:solidFill>
          <a:ln/>
          <a:effectLst>
            <a:outerShdw sx="100000" sy="100000" kx="0" ky="0" algn="bl" rotWithShape="0" blurRad="177800" dist="38100" dir="5400000">
              <a:srgbClr val="0B1220">
                <a:alpha val="16000"/>
              </a:srgbClr>
            </a:outerShdw>
          </a:effectLst>
        </p:spPr>
      </p:sp>
      <p:sp>
        <p:nvSpPr>
          <p:cNvPr id="3" name="Text 1"/>
          <p:cNvSpPr/>
          <p:nvPr/>
        </p:nvSpPr>
        <p:spPr>
          <a:xfrm>
            <a:off x="822960" y="1691640"/>
            <a:ext cx="841248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Sunny didn't diagnose anyone.</a:t>
            </a:r>
            <a:endParaRPr lang="en-US" sz="3400" dirty="0"/>
          </a:p>
        </p:txBody>
      </p:sp>
      <p:sp>
        <p:nvSpPr>
          <p:cNvPr id="4" name="Text 2"/>
          <p:cNvSpPr/>
          <p:nvPr/>
        </p:nvSpPr>
        <p:spPr>
          <a:xfrm>
            <a:off x="868680" y="2651760"/>
            <a:ext cx="8412480" cy="1554480"/>
          </a:xfrm>
          <a:prstGeom prst="rect">
            <a:avLst/>
          </a:prstGeom>
          <a:noFill/>
          <a:ln/>
        </p:spPr>
        <p:txBody>
          <a:bodyPr wrap="square" lIns="0" tIns="0" rIns="0" bIns="0" rtlCol="0" anchor="ctr"/>
          <a:lstStyle/>
          <a:p>
            <a:pPr indent="0" marL="0">
              <a:lnSpc>
                <a:spcPts val="3800"/>
              </a:lnSpc>
              <a:buNone/>
            </a:pPr>
            <a:r>
              <a:rPr lang="en-US" sz="2500" dirty="0">
                <a:solidFill>
                  <a:srgbClr val="FFC24A"/>
                </a:solidFill>
                <a:latin typeface="Cambria" pitchFamily="34" charset="0"/>
                <a:ea typeface="Cambria" pitchFamily="34" charset="-122"/>
                <a:cs typeface="Cambria" pitchFamily="34" charset="-120"/>
              </a:rPr>
              <a:t>It did arithmetic on five numbers,</a:t>
            </a:r>
            <a:endParaRPr lang="en-US" sz="2500" dirty="0"/>
          </a:p>
          <a:p>
            <a:pPr indent="0" marL="0">
              <a:lnSpc>
                <a:spcPts val="3800"/>
              </a:lnSpc>
              <a:buNone/>
            </a:pPr>
            <a:r>
              <a:rPr lang="en-US" sz="2500" dirty="0">
                <a:solidFill>
                  <a:srgbClr val="FFC24A"/>
                </a:solidFill>
                <a:latin typeface="Cambria" pitchFamily="34" charset="0"/>
                <a:ea typeface="Cambria" pitchFamily="34" charset="-122"/>
                <a:cs typeface="Cambria" pitchFamily="34" charset="-120"/>
              </a:rPr>
              <a:t>showed its working,</a:t>
            </a:r>
            <a:endParaRPr lang="en-US" sz="2500" dirty="0"/>
          </a:p>
          <a:p>
            <a:pPr indent="0" marL="0">
              <a:lnSpc>
                <a:spcPts val="3800"/>
              </a:lnSpc>
              <a:buNone/>
            </a:pPr>
            <a:r>
              <a:rPr lang="en-US" sz="2500" dirty="0">
                <a:solidFill>
                  <a:srgbClr val="FFC24A"/>
                </a:solidFill>
                <a:latin typeface="Cambria" pitchFamily="34" charset="0"/>
                <a:ea typeface="Cambria" pitchFamily="34" charset="-122"/>
                <a:cs typeface="Cambria" pitchFamily="34" charset="-120"/>
              </a:rPr>
              <a:t>and made sure a caring adult noticed.</a:t>
            </a:r>
            <a:endParaRPr lang="en-US" sz="2500" dirty="0"/>
          </a:p>
        </p:txBody>
      </p:sp>
      <p:sp>
        <p:nvSpPr>
          <p:cNvPr id="5" name="Text 3"/>
          <p:cNvSpPr/>
          <p:nvPr/>
        </p:nvSpPr>
        <p:spPr>
          <a:xfrm>
            <a:off x="868680" y="4434840"/>
            <a:ext cx="8412480" cy="411480"/>
          </a:xfrm>
          <a:prstGeom prst="rect">
            <a:avLst/>
          </a:prstGeom>
          <a:noFill/>
          <a:ln/>
        </p:spPr>
        <p:txBody>
          <a:bodyPr wrap="square" lIns="0" tIns="0" rIns="0" bIns="0" rtlCol="0" anchor="ctr"/>
          <a:lstStyle/>
          <a:p>
            <a:pPr indent="0" marL="0">
              <a:buNone/>
            </a:pPr>
            <a:r>
              <a:rPr lang="en-US" sz="1600" dirty="0">
                <a:solidFill>
                  <a:srgbClr val="9FB3D0"/>
                </a:solidFill>
                <a:latin typeface="Calibri" pitchFamily="34" charset="0"/>
                <a:ea typeface="Calibri" pitchFamily="34" charset="-122"/>
                <a:cs typeface="Calibri" pitchFamily="34" charset="-120"/>
              </a:rPr>
              <a:t>That is the only kind of AI a school should ever point at a child.</a:t>
            </a:r>
            <a:endParaRPr lang="en-US" sz="1600" dirty="0"/>
          </a:p>
        </p:txBody>
      </p:sp>
      <p:pic>
        <p:nvPicPr>
          <p:cNvPr id="6" name="Image 0" descr="preencoded.png">    </p:cNvPr>
          <p:cNvPicPr>
            <a:picLocks noChangeAspect="1"/>
          </p:cNvPicPr>
          <p:nvPr/>
        </p:nvPicPr>
        <p:blipFill>
          <a:blip r:embed="rId1"/>
          <a:stretch>
            <a:fillRect/>
          </a:stretch>
        </p:blipFill>
        <p:spPr>
          <a:xfrm>
            <a:off x="868680" y="5120640"/>
            <a:ext cx="457200" cy="457200"/>
          </a:xfrm>
          <a:prstGeom prst="rect">
            <a:avLst/>
          </a:prstGeom>
        </p:spPr>
      </p:pic>
      <p:pic>
        <p:nvPicPr>
          <p:cNvPr id="7" name="Image 1" descr="preencoded.png">    </p:cNvPr>
          <p:cNvPicPr>
            <a:picLocks noChangeAspect="1"/>
          </p:cNvPicPr>
          <p:nvPr/>
        </p:nvPicPr>
        <p:blipFill>
          <a:blip r:embed="rId2"/>
          <a:stretch>
            <a:fillRect/>
          </a:stretch>
        </p:blipFill>
        <p:spPr>
          <a:xfrm>
            <a:off x="1435608" y="5120640"/>
            <a:ext cx="457200" cy="457200"/>
          </a:xfrm>
          <a:prstGeom prst="rect">
            <a:avLst/>
          </a:prstGeom>
        </p:spPr>
      </p:pic>
      <p:pic>
        <p:nvPicPr>
          <p:cNvPr id="8" name="Image 2" descr="preencoded.png">    </p:cNvPr>
          <p:cNvPicPr>
            <a:picLocks noChangeAspect="1"/>
          </p:cNvPicPr>
          <p:nvPr/>
        </p:nvPicPr>
        <p:blipFill>
          <a:blip r:embed="rId3"/>
          <a:stretch>
            <a:fillRect/>
          </a:stretch>
        </p:blipFill>
        <p:spPr>
          <a:xfrm>
            <a:off x="2002536" y="5120640"/>
            <a:ext cx="457200" cy="457200"/>
          </a:xfrm>
          <a:prstGeom prst="rect">
            <a:avLst/>
          </a:prstGeom>
        </p:spPr>
      </p:pic>
      <p:pic>
        <p:nvPicPr>
          <p:cNvPr id="9" name="Image 3" descr="preencoded.png">    </p:cNvPr>
          <p:cNvPicPr>
            <a:picLocks noChangeAspect="1"/>
          </p:cNvPicPr>
          <p:nvPr/>
        </p:nvPicPr>
        <p:blipFill>
          <a:blip r:embed="rId4"/>
          <a:stretch>
            <a:fillRect/>
          </a:stretch>
        </p:blipFill>
        <p:spPr>
          <a:xfrm>
            <a:off x="2569464" y="5120640"/>
            <a:ext cx="457200" cy="457200"/>
          </a:xfrm>
          <a:prstGeom prst="rect">
            <a:avLst/>
          </a:prstGeom>
        </p:spPr>
      </p:pic>
      <p:pic>
        <p:nvPicPr>
          <p:cNvPr id="10" name="Image 4" descr="preencoded.png">    </p:cNvPr>
          <p:cNvPicPr>
            <a:picLocks noChangeAspect="1"/>
          </p:cNvPicPr>
          <p:nvPr/>
        </p:nvPicPr>
        <p:blipFill>
          <a:blip r:embed="rId5"/>
          <a:stretch>
            <a:fillRect/>
          </a:stretch>
        </p:blipFill>
        <p:spPr>
          <a:xfrm>
            <a:off x="3136392" y="5120640"/>
            <a:ext cx="457200" cy="457200"/>
          </a:xfrm>
          <a:prstGeom prst="rect">
            <a:avLst/>
          </a:prstGeom>
        </p:spPr>
      </p:pic>
      <p:sp>
        <p:nvSpPr>
          <p:cNvPr id="11" name="Text 4"/>
          <p:cNvSpPr/>
          <p:nvPr/>
        </p:nvSpPr>
        <p:spPr>
          <a:xfrm>
            <a:off x="685800" y="6144768"/>
            <a:ext cx="10789920" cy="274320"/>
          </a:xfrm>
          <a:prstGeom prst="rect">
            <a:avLst/>
          </a:prstGeom>
          <a:noFill/>
          <a:ln/>
        </p:spPr>
        <p:txBody>
          <a:bodyPr wrap="square" lIns="0" tIns="0" rIns="0" bIns="0" rtlCol="0" anchor="ctr"/>
          <a:lstStyle/>
          <a:p>
            <a:pPr indent="0" marL="0">
              <a:buNone/>
            </a:pPr>
            <a:r>
              <a:rPr lang="en-US" sz="1000" dirty="0">
                <a:solidFill>
                  <a:srgbClr val="6B84AB"/>
                </a:solidFill>
                <a:latin typeface="Calibri" pitchFamily="34" charset="0"/>
                <a:ea typeface="Calibri" pitchFamily="34" charset="-122"/>
                <a:cs typeface="Calibri" pitchFamily="34" charset="-120"/>
              </a:rPr>
              <a:t>Sunny  ·  github.com/ArthurAlexandre28/Hackathon_ICL  ·  ICL Hackathon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2026-07-28T04:26:07Z</dcterms:created>
  <dcterms:modified xsi:type="dcterms:W3CDTF">2026-07-28T04:26:07Z</dcterms:modified>
</cp:coreProperties>
</file>