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[0:00-0:15] Open on the title. Say it slowly.
"Every classroom has a child who is struggling quietly. This is a tool that helps a teacher notice them — without a machine ever guessing how that child feels."
Don't read the slide. Let the sun sit there.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[0:15-0:40] The problem.
"Twenty-six students, one teacher, six hours a day. The kids who most need noticing are the hardest to see — the ones who mask, the ones who feel it but can't name it yet, the ones who'd never say it in front of twenty-five classmates."
Land the bottom line: "By the time it's obvious, it's usually been weeks."
Arthur — this is where your Skill Samurai experience earns credibility. One sentence, not a 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[0:40-1:05] The solution. Move fast here.
"The child taps a face. Five options, twenty seconds, once a day. No vocabulary needed — and no metaphor to decode first, which matters enormously for neurodivergent kids."
"The teacher gets the class at a glance, plus soft signals. Never red alarms."
Point at 'the child can see their own history' — it pre-empts the surveillance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[1:05-1:35] SWITCH TO THE LIVE DEMO. This is the moment.
Open the prototype, teacher view, click Cody.
"Cody was bright all week. Then this."
Walk the four steps on screen: the data, the rule that fired, what it does NOT mean, then the AI's suggestion.
Say: "Sunny did not decide Cody is sad. It noticed a number moved, and it told a human."
If the demo fails, this slide carries it alone. Don't panic — the chart is right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[1:35-1:50] The pivot. Pause before you speak.
"You're about to ask me — how do you know the child is sad?"
Beat.
"We don't. And Sunny says so, on screen, every single time."
This is the slide that answers the judge's feedback head-on. Own it rather than defending.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[1:50-2:15] The architecture. Your strongest slide.
"Detection is arithmetic. The AI only writes the wording. We never mix the two."
"The AI receives a rule name and five numbers. No child's name, no reason tags, no history. It returns a sentence."
Then the line at the bottom, slowly: "Remove the AI entirely and Sunny flags exactly the same children."
That sentence is the whole pitch. Let it land before moving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[2:15-2:30] The rules. Go quickly — the point is that they FIT ON A SLIDE.
"Three rules. That's all of them. A parent could check the maths by hand."
Then the bottom line: "Every rule compares a child only to themselves."
Don't read all three aloud. Gesture at them and move.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[2:30-2:45] Inclusion. This is the slide that wins the EdTech track.
"Ana checks in okay most days. She is never flagged — that's her normal, and normal is not a problem."
"Ben checks in great most days. The same two not-good days get flagged, because for Ben they're a departure."
"Change is the signal, not the level. That protects quiet and neurodivergent kids from being flagged for simply being themselves."
If you only get one extra sentence in Q&amp;A, use this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[2:45-2:55] Safeguarding. Fast — this is a reassurance slide, not a teaching slide.
"Here's what Sunny never does." Gesture at the list.
"One tap. No free text, no camera, no microphone."
Then: "Teachers can dismiss any signal, and we keep the dismissals so we can publish an honest false-positive rate."
That last line signals intellectual honesty. Judges notice.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[2:55-3:05] Roadmap. Be honest about what's built.
"Level one is built and running — you just saw it. Level two is a real backend and one school for one term. Level three is compliance and escalation routing."
Critical: "Detection stays rule-based at every level. Scaling adds reach, never opacity."
Never claim the prototype is more than it is. Simulated data, real logic. Say that if asked.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[3:05-3:15] Business model.
"This sells into wellbeing and pastoral budgets, not IT. Per-classroom licence — a school can start with one class."
The wedge line is the one that matters: "We're the option a school can actually defend to parents, because the detection is auditable arithmetic."
Keep pricing vague unless asked. If pressed, say it's indicative and depends on the pilot.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[3:15-3:30] Close. Stop talking after this. Do not add anything.
"Sunny didn't diagnose Cody. It did arithmetic on five numbers, showed its working, and made sure a caring adult noticed."
Beat.
"That's the only kind of AI a school should ever point at a child."
Then stop. Let the silence do the work.
--- LIKELY Q&amp;A ---
Q: How do you know the child is sad?
A: We don't, and we say so on screen. We detect that a self-reported number moved from that child's own baseline. Step 3 of every signal lists the innocent explanations.
Q: What if the AI gets it wrong?
A: The AI cannot get WHO is flagged wrong — it never makes that call. If the wording is unhelpful, the teacher dismisses it, and we keep dismissals to publish a real false-positive rate.
Q: What about a kid who's always low?
A: Never flagged for their baseline. Only change counts. That's the point.
Q: Is this real data?
A: Simulated data, real logic. The rules run exactly as shown.
Q: Privacy / parents?
A: One tap, no free text, deleted after 30 days, never trains a model, never auto-notifies anyone.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1.png"/><Relationship Id="rId7" Type="http://schemas.openxmlformats.org/officeDocument/2006/relationships/image" Target="../media/image-1-1.png"/><Relationship Id="rId8" Type="http://schemas.openxmlformats.org/officeDocument/2006/relationships/image" Target="../media/image-1-4.png"/><Relationship Id="rId9" Type="http://schemas.openxmlformats.org/officeDocument/2006/relationships/image" Target="../media/image-1-1.png"/><Relationship Id="rId10" Type="http://schemas.openxmlformats.org/officeDocument/2006/relationships/image" Target="../media/image-1-2.png"/><Relationship Id="rId11" Type="http://schemas.openxmlformats.org/officeDocument/2006/relationships/image" Target="../media/image-1-1.png"/><Relationship Id="rId12" Type="http://schemas.openxmlformats.org/officeDocument/2006/relationships/image" Target="../media/image-1-1.png"/><Relationship Id="rId13" Type="http://schemas.openxmlformats.org/officeDocument/2006/relationships/image" Target="../media/image-1-2.png"/><Relationship Id="rId14" Type="http://schemas.openxmlformats.org/officeDocument/2006/relationships/image" Target="../media/image-1-1.png"/><Relationship Id="rId15" Type="http://schemas.openxmlformats.org/officeDocument/2006/relationships/image" Target="../media/image-1-5.png"/><Relationship Id="rId16" Type="http://schemas.openxmlformats.org/officeDocument/2006/relationships/image" Target="../media/image-1-4.png"/><Relationship Id="rId17" Type="http://schemas.openxmlformats.org/officeDocument/2006/relationships/image" Target="../media/image-1-1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3.png"/><Relationship Id="rId2" Type="http://schemas.openxmlformats.org/officeDocument/2006/relationships/image" Target="../media/image-1-3.png"/><Relationship Id="rId3" Type="http://schemas.openxmlformats.org/officeDocument/2006/relationships/image" Target="../media/image-1-4.png"/><Relationship Id="rId4" Type="http://schemas.openxmlformats.org/officeDocument/2006/relationships/image" Target="../media/image-1-3.png"/><Relationship Id="rId5" Type="http://schemas.openxmlformats.org/officeDocument/2006/relationships/image" Target="../media/image-1-3.png"/><Relationship Id="rId6" Type="http://schemas.openxmlformats.org/officeDocument/2006/relationships/image" Target="../media/image-1-1.png"/><Relationship Id="rId7" Type="http://schemas.openxmlformats.org/officeDocument/2006/relationships/image" Target="../media/image-1-1.png"/><Relationship Id="rId8" Type="http://schemas.openxmlformats.org/officeDocument/2006/relationships/image" Target="../media/image-1-1.png"/><Relationship Id="rId9" Type="http://schemas.openxmlformats.org/officeDocument/2006/relationships/image" Target="../media/image-1-4.png"/><Relationship Id="rId10" Type="http://schemas.openxmlformats.org/officeDocument/2006/relationships/image" Target="../media/image-1-4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98280" y="1417320"/>
            <a:ext cx="2377440" cy="2377440"/>
          </a:xfrm>
          <a:prstGeom prst="ellipse">
            <a:avLst/>
          </a:prstGeom>
          <a:solidFill>
            <a:srgbClr val="FFC24A"/>
          </a:solidFill>
          <a:ln/>
          <a:effectLst>
            <a:outerShdw sx="100000" sy="100000" kx="0" ky="0" algn="bl" rotWithShape="0" blurRad="177800" dist="38100" dir="5400000">
              <a:srgbClr val="0B1220">
                <a:alpha val="16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8778240" y="1097280"/>
            <a:ext cx="3017520" cy="3017520"/>
          </a:xfrm>
          <a:prstGeom prst="ellipse">
            <a:avLst/>
          </a:prstGeom>
          <a:solidFill>
            <a:srgbClr val="FFC24A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458200" y="777240"/>
            <a:ext cx="3657600" cy="3657600"/>
          </a:xfrm>
          <a:prstGeom prst="ellipse">
            <a:avLst/>
          </a:prstGeom>
          <a:solidFill>
            <a:srgbClr val="FFC24A">
              <a:alpha val="9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00200"/>
            <a:ext cx="7315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Sunny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868680" y="272491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C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Classroom Mood Check-in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68680" y="342900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9FB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quiet kid gets noticed —</a:t>
            </a:r>
            <a:endParaRPr lang="en-US" sz="16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9FB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machine guessing how they feel.</a:t>
            </a:r>
            <a:endParaRPr lang="en-US" sz="16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4846320"/>
            <a:ext cx="457200" cy="457200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5608" y="4846320"/>
            <a:ext cx="457200" cy="457200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2536" y="4846320"/>
            <a:ext cx="457200" cy="457200"/>
          </a:xfrm>
          <a:prstGeom prst="rect">
            <a:avLst/>
          </a:prstGeom>
        </p:spPr>
      </p:pic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9464" y="4846320"/>
            <a:ext cx="457200" cy="457200"/>
          </a:xfrm>
          <a:prstGeom prst="rect">
            <a:avLst/>
          </a:prstGeom>
        </p:spPr>
      </p:pic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36392" y="4846320"/>
            <a:ext cx="457200" cy="45720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3977640" y="48463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84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taps · twenty seconds · once a day</a:t>
            </a:r>
            <a:endParaRPr lang="en-US" sz="1200" dirty="0"/>
          </a:p>
        </p:txBody>
      </p:sp>
      <p:sp>
        <p:nvSpPr>
          <p:cNvPr id="14" name="Text 7"/>
          <p:cNvSpPr/>
          <p:nvPr/>
        </p:nvSpPr>
        <p:spPr>
          <a:xfrm>
            <a:off x="685800" y="614476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4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ICL Hackathon 2026  ·  Sustainable Business Innovation &amp; AI Challenge  ·  Education Technology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 students. One teacher. Six hours.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85800" y="121615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B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teacher cannot read 26 inner states at once — and the children who most need noticing are the hardest to see.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85800" y="2148840"/>
            <a:ext cx="3401568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sx="100000" sy="100000" kx="0" ky="0" algn="bl" rotWithShape="0" blurRad="177800" dist="38100" dir="5400000">
              <a:srgbClr val="0B122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468880"/>
            <a:ext cx="566928" cy="566928"/>
          </a:xfrm>
          <a:prstGeom prst="ellipse">
            <a:avLst/>
          </a:prstGeom>
          <a:solidFill>
            <a:srgbClr val="B9C4D4"/>
          </a:solidFill>
          <a:ln/>
          <a:effectLst>
            <a:outerShdw sx="100000" sy="100000" kx="0" ky="0" algn="bl" rotWithShape="0" blurRad="177800" dist="38100" dir="5400000">
              <a:srgbClr val="0B122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709928" y="25420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Masking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005840" y="324612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B7B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Kids who have learned to perform “fine” because it is easier than explaining.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70832" y="2148840"/>
            <a:ext cx="3401568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sx="100000" sy="100000" kx="0" ky="0" algn="bl" rotWithShape="0" blurRad="177800" dist="38100" dir="5400000">
              <a:srgbClr val="0B122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90872" y="2468880"/>
            <a:ext cx="566928" cy="566928"/>
          </a:xfrm>
          <a:prstGeom prst="ellipse">
            <a:avLst/>
          </a:prstGeom>
          <a:solidFill>
            <a:srgbClr val="7FA8D9"/>
          </a:solidFill>
          <a:ln/>
          <a:effectLst>
            <a:outerShdw sx="100000" sy="100000" kx="0" ky="0" algn="bl" rotWithShape="0" blurRad="177800" dist="38100" dir="5400000">
              <a:srgbClr val="0B1220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394960" y="25420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words yet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690872" y="324612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B7B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Neurodivergent kids who feel it clearly but cannot name it on demand.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55864" y="2148840"/>
            <a:ext cx="3401568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sx="100000" sy="100000" kx="0" ky="0" algn="bl" rotWithShape="0" blurRad="177800" dist="38100" dir="5400000">
              <a:srgbClr val="0B1220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375904" y="2468880"/>
            <a:ext cx="566928" cy="566928"/>
          </a:xfrm>
          <a:prstGeom prst="ellipse">
            <a:avLst/>
          </a:prstGeom>
          <a:solidFill>
            <a:srgbClr val="8B7FD9"/>
          </a:solidFill>
          <a:ln/>
          <a:effectLst>
            <a:outerShdw sx="100000" sy="100000" kx="0" ky="0" algn="bl" rotWithShape="0" blurRad="177800" dist="38100" dir="5400000">
              <a:srgbClr val="0B1220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079992" y="25420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Won't say it aloud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375904" y="324612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B7B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Kids who would never raise a hand in front of 25 classmates.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" y="4754880"/>
            <a:ext cx="10789920" cy="868680"/>
          </a:xfrm>
          <a:prstGeom prst="roundRect">
            <a:avLst>
              <a:gd name="adj" fmla="val 12632"/>
            </a:avLst>
          </a:prstGeom>
          <a:solidFill>
            <a:srgbClr val="21304F"/>
          </a:solidFill>
          <a:ln/>
          <a:effectLst>
            <a:outerShdw sx="100000" sy="100000" kx="0" ky="0" algn="bl" rotWithShape="0" blurRad="177800" dist="38100" dir="5400000">
              <a:srgbClr val="0B1220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05840" y="4754880"/>
            <a:ext cx="10149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the time a struggling child is obvious, they have usually been struggling for weeks.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85800" y="614476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 Sunny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85800" y="121615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B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tap from the child. One calm dashboard for the teacher.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5257800" cy="3429000"/>
          </a:xfrm>
          <a:prstGeom prst="roundRect">
            <a:avLst>
              <a:gd name="adj" fmla="val 3200"/>
            </a:avLst>
          </a:prstGeom>
          <a:solidFill>
            <a:srgbClr val="F4F7FB"/>
          </a:solidFill>
          <a:ln w="12700">
            <a:solidFill>
              <a:srgbClr val="E2EAF4"/>
            </a:solidFill>
            <a:prstDash val="solid"/>
          </a:ln>
          <a:effectLst>
            <a:outerShdw sx="100000" sy="100000" kx="0" ky="0" algn="bl" rotWithShape="0" blurRad="177800" dist="38100" dir="5400000">
              <a:srgbClr val="0B122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331720"/>
            <a:ext cx="502920" cy="502920"/>
          </a:xfrm>
          <a:prstGeom prst="ellipse">
            <a:avLst/>
          </a:prstGeom>
          <a:solidFill>
            <a:srgbClr val="FFC24A"/>
          </a:solidFill>
          <a:ln/>
          <a:effectLst>
            <a:outerShdw sx="100000" sy="100000" kx="0" ky="0" algn="bl" rotWithShape="0" blurRad="177800" dist="38100" dir="5400000">
              <a:srgbClr val="0B122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5156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30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719072" y="23774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child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051560" y="2926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are you feeling today?”</a:t>
            </a:r>
            <a:endParaRPr lang="en-US" sz="14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3401568"/>
            <a:ext cx="566928" cy="566928"/>
          </a:xfrm>
          <a:prstGeom prst="rect">
            <a:avLst/>
          </a:prstGeom>
        </p:spPr>
      </p:pic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4792" y="3401568"/>
            <a:ext cx="566928" cy="566928"/>
          </a:xfrm>
          <a:prstGeom prst="rect">
            <a:avLst/>
          </a:prstGeom>
        </p:spPr>
      </p:pic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8024" y="3401568"/>
            <a:ext cx="566928" cy="566928"/>
          </a:xfrm>
          <a:prstGeom prst="rect">
            <a:avLst/>
          </a:prstGeom>
        </p:spPr>
      </p:pic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1256" y="3401568"/>
            <a:ext cx="566928" cy="566928"/>
          </a:xfrm>
          <a:prstGeom prst="rect">
            <a:avLst/>
          </a:prstGeom>
        </p:spPr>
      </p:pic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04488" y="3401568"/>
            <a:ext cx="566928" cy="56692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051560" y="416052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6B7B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Faces, not words — no vocabulary needed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6B7B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reason tag, including “rather not say”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6B7B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child can see their own history any time</a:t>
            </a:r>
            <a:endParaRPr lang="en-US" sz="1250" dirty="0"/>
          </a:p>
        </p:txBody>
      </p:sp>
      <p:sp>
        <p:nvSpPr>
          <p:cNvPr id="15" name="Shape 8"/>
          <p:cNvSpPr/>
          <p:nvPr/>
        </p:nvSpPr>
        <p:spPr>
          <a:xfrm>
            <a:off x="6217920" y="1965960"/>
            <a:ext cx="5257800" cy="3429000"/>
          </a:xfrm>
          <a:prstGeom prst="roundRect">
            <a:avLst>
              <a:gd name="adj" fmla="val 3200"/>
            </a:avLst>
          </a:prstGeom>
          <a:solidFill>
            <a:srgbClr val="F4F7FB"/>
          </a:solidFill>
          <a:ln w="12700">
            <a:solidFill>
              <a:srgbClr val="E2EAF4"/>
            </a:solidFill>
            <a:prstDash val="solid"/>
          </a:ln>
          <a:effectLst>
            <a:outerShdw sx="100000" sy="100000" kx="0" ky="0" algn="bl" rotWithShape="0" blurRad="177800" dist="38100" dir="5400000">
              <a:srgbClr val="0B1220">
                <a:alpha val="16000"/>
              </a:srgbClr>
            </a:outerShdw>
          </a:effectLst>
        </p:spPr>
      </p:sp>
      <p:sp>
        <p:nvSpPr>
          <p:cNvPr id="16" name="Shape 9"/>
          <p:cNvSpPr/>
          <p:nvPr/>
        </p:nvSpPr>
        <p:spPr>
          <a:xfrm>
            <a:off x="6583680" y="2331720"/>
            <a:ext cx="502920" cy="502920"/>
          </a:xfrm>
          <a:prstGeom prst="ellipse">
            <a:avLst/>
          </a:prstGeom>
          <a:solidFill>
            <a:srgbClr val="5B8DEF"/>
          </a:solidFill>
          <a:ln/>
          <a:effectLst>
            <a:outerShdw sx="100000" sy="100000" kx="0" ky="0" algn="bl" rotWithShape="0" blurRad="177800" dist="38100" dir="5400000">
              <a:srgbClr val="0B1220">
                <a:alpha val="16000"/>
              </a:srgbClr>
            </a:outerShdw>
          </a:effectLst>
        </p:spPr>
      </p:sp>
      <p:sp>
        <p:nvSpPr>
          <p:cNvPr id="17" name="Text 10"/>
          <p:cNvSpPr/>
          <p:nvPr/>
        </p:nvSpPr>
        <p:spPr>
          <a:xfrm>
            <a:off x="658368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1"/>
          <p:cNvSpPr/>
          <p:nvPr/>
        </p:nvSpPr>
        <p:spPr>
          <a:xfrm>
            <a:off x="7251192" y="23774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teacher</a:t>
            </a:r>
            <a:endParaRPr lang="en-US" sz="2100" dirty="0"/>
          </a:p>
        </p:txBody>
      </p:sp>
      <p:sp>
        <p:nvSpPr>
          <p:cNvPr id="19" name="Text 12"/>
          <p:cNvSpPr/>
          <p:nvPr/>
        </p:nvSpPr>
        <p:spPr>
          <a:xfrm>
            <a:off x="6583680" y="2926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at a glance, plus soft signals</a:t>
            </a:r>
            <a:endParaRPr lang="en-US" sz="140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0" y="3401568"/>
            <a:ext cx="310896" cy="310896"/>
          </a:xfrm>
          <a:prstGeom prst="rect">
            <a:avLst/>
          </a:prstGeom>
        </p:spPr>
      </p:pic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67728" y="3401568"/>
            <a:ext cx="310896" cy="310896"/>
          </a:xfrm>
          <a:prstGeom prst="rect">
            <a:avLst/>
          </a:prstGeom>
        </p:spPr>
      </p:pic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51776" y="3401568"/>
            <a:ext cx="310896" cy="310896"/>
          </a:xfrm>
          <a:prstGeom prst="rect">
            <a:avLst/>
          </a:prstGeom>
        </p:spPr>
      </p:pic>
      <p:pic>
        <p:nvPicPr>
          <p:cNvPr id="2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35824" y="3401568"/>
            <a:ext cx="310896" cy="310896"/>
          </a:xfrm>
          <a:prstGeom prst="rect">
            <a:avLst/>
          </a:prstGeom>
        </p:spPr>
      </p:pic>
      <p:pic>
        <p:nvPicPr>
          <p:cNvPr id="2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19872" y="3401568"/>
            <a:ext cx="310896" cy="310896"/>
          </a:xfrm>
          <a:prstGeom prst="rect">
            <a:avLst/>
          </a:prstGeom>
        </p:spPr>
      </p:pic>
      <p:pic>
        <p:nvPicPr>
          <p:cNvPr id="2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03920" y="3401568"/>
            <a:ext cx="310896" cy="310896"/>
          </a:xfrm>
          <a:prstGeom prst="rect">
            <a:avLst/>
          </a:prstGeom>
        </p:spPr>
      </p:pic>
      <p:pic>
        <p:nvPicPr>
          <p:cNvPr id="26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83680" y="3785616"/>
            <a:ext cx="310896" cy="310896"/>
          </a:xfrm>
          <a:prstGeom prst="rect">
            <a:avLst/>
          </a:prstGeom>
        </p:spPr>
      </p:pic>
      <p:pic>
        <p:nvPicPr>
          <p:cNvPr id="27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967728" y="3785616"/>
            <a:ext cx="310896" cy="310896"/>
          </a:xfrm>
          <a:prstGeom prst="rect">
            <a:avLst/>
          </a:prstGeom>
        </p:spPr>
      </p:pic>
      <p:pic>
        <p:nvPicPr>
          <p:cNvPr id="28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351776" y="3785616"/>
            <a:ext cx="310896" cy="310896"/>
          </a:xfrm>
          <a:prstGeom prst="rect">
            <a:avLst/>
          </a:prstGeom>
        </p:spPr>
      </p:pic>
      <p:pic>
        <p:nvPicPr>
          <p:cNvPr id="29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735824" y="3785616"/>
            <a:ext cx="310896" cy="310896"/>
          </a:xfrm>
          <a:prstGeom prst="rect">
            <a:avLst/>
          </a:prstGeom>
        </p:spPr>
      </p:pic>
      <p:pic>
        <p:nvPicPr>
          <p:cNvPr id="30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119872" y="3785616"/>
            <a:ext cx="310896" cy="310896"/>
          </a:xfrm>
          <a:prstGeom prst="rect">
            <a:avLst/>
          </a:prstGeom>
        </p:spPr>
      </p:pic>
      <p:pic>
        <p:nvPicPr>
          <p:cNvPr id="31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503920" y="3785616"/>
            <a:ext cx="310896" cy="310896"/>
          </a:xfrm>
          <a:prstGeom prst="rect">
            <a:avLst/>
          </a:prstGeom>
        </p:spPr>
      </p:pic>
      <p:sp>
        <p:nvSpPr>
          <p:cNvPr id="32" name="Text 13"/>
          <p:cNvSpPr/>
          <p:nvPr/>
        </p:nvSpPr>
        <p:spPr>
          <a:xfrm>
            <a:off x="9052560" y="3364992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6B7B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signals, never red alarms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6B7B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over time a grid scan would miss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6B7B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signal ends in a human decision</a:t>
            </a:r>
            <a:endParaRPr lang="en-US" sz="1150" dirty="0"/>
          </a:p>
        </p:txBody>
      </p:sp>
      <p:sp>
        <p:nvSpPr>
          <p:cNvPr id="33" name="Text 14"/>
          <p:cNvSpPr/>
          <p:nvPr/>
        </p:nvSpPr>
        <p:spPr>
          <a:xfrm>
            <a:off x="685800" y="614476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moment that matters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85800" y="121615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B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Cody, Room 6 — bright all week, then this.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85800" y="2011680"/>
            <a:ext cx="6492240" cy="3429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sx="100000" sy="100000" kx="0" ky="0" algn="bl" rotWithShape="0" blurRad="177800" dist="38100" dir="5400000">
              <a:srgbClr val="0B122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34440" y="2898648"/>
            <a:ext cx="658368" cy="1901952"/>
          </a:xfrm>
          <a:prstGeom prst="roundRect">
            <a:avLst>
              <a:gd name="adj" fmla="val 8333"/>
            </a:avLst>
          </a:prstGeom>
          <a:solidFill>
            <a:srgbClr val="FFD98A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4873752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B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04872" y="2898648"/>
            <a:ext cx="658368" cy="1901952"/>
          </a:xfrm>
          <a:prstGeom prst="roundRect">
            <a:avLst>
              <a:gd name="adj" fmla="val 8333"/>
            </a:avLst>
          </a:prstGeom>
          <a:solidFill>
            <a:srgbClr val="FFD98A"/>
          </a:solidFill>
          <a:ln/>
        </p:spPr>
      </p:sp>
      <p:sp>
        <p:nvSpPr>
          <p:cNvPr id="8" name="Text 6"/>
          <p:cNvSpPr/>
          <p:nvPr/>
        </p:nvSpPr>
        <p:spPr>
          <a:xfrm>
            <a:off x="2313432" y="4873752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B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575304" y="2898648"/>
            <a:ext cx="658368" cy="1901952"/>
          </a:xfrm>
          <a:prstGeom prst="roundRect">
            <a:avLst>
              <a:gd name="adj" fmla="val 8333"/>
            </a:avLst>
          </a:prstGeom>
          <a:solidFill>
            <a:srgbClr val="FFD98A"/>
          </a:solidFill>
          <a:ln/>
        </p:spPr>
      </p:sp>
      <p:sp>
        <p:nvSpPr>
          <p:cNvPr id="10" name="Text 8"/>
          <p:cNvSpPr/>
          <p:nvPr/>
        </p:nvSpPr>
        <p:spPr>
          <a:xfrm>
            <a:off x="3483864" y="4873752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B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45736" y="3849624"/>
            <a:ext cx="658368" cy="950976"/>
          </a:xfrm>
          <a:prstGeom prst="roundRect">
            <a:avLst>
              <a:gd name="adj" fmla="val 8333"/>
            </a:avLst>
          </a:prstGeom>
          <a:solidFill>
            <a:srgbClr val="7FA8D9"/>
          </a:solidFill>
          <a:ln/>
        </p:spPr>
      </p:sp>
      <p:sp>
        <p:nvSpPr>
          <p:cNvPr id="12" name="Text 10"/>
          <p:cNvSpPr/>
          <p:nvPr/>
        </p:nvSpPr>
        <p:spPr>
          <a:xfrm>
            <a:off x="4654296" y="4873752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B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16168" y="4325112"/>
            <a:ext cx="658368" cy="475488"/>
          </a:xfrm>
          <a:prstGeom prst="roundRect">
            <a:avLst>
              <a:gd name="adj" fmla="val 11538"/>
            </a:avLst>
          </a:prstGeom>
          <a:solidFill>
            <a:srgbClr val="8B7FD9"/>
          </a:solidFill>
          <a:ln/>
        </p:spPr>
      </p:sp>
      <p:sp>
        <p:nvSpPr>
          <p:cNvPr id="14" name="Text 12"/>
          <p:cNvSpPr/>
          <p:nvPr/>
        </p:nvSpPr>
        <p:spPr>
          <a:xfrm>
            <a:off x="5824728" y="4873752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B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051560" y="2803550"/>
            <a:ext cx="5760720" cy="0"/>
          </a:xfrm>
          <a:prstGeom prst="line">
            <a:avLst/>
          </a:prstGeom>
          <a:noFill/>
          <a:ln w="22225">
            <a:solidFill>
              <a:srgbClr val="5B8DEF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4617720" y="249265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Cody's own 30-day baseline  4.2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051560" y="5138928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B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rule measures distance from this line — never from the class.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452360" y="2011680"/>
            <a:ext cx="4023360" cy="3429000"/>
          </a:xfrm>
          <a:prstGeom prst="roundRect">
            <a:avLst>
              <a:gd name="adj" fmla="val 3200"/>
            </a:avLst>
          </a:prstGeom>
          <a:solidFill>
            <a:srgbClr val="21304F"/>
          </a:solidFill>
          <a:ln/>
          <a:effectLst>
            <a:outerShdw sx="100000" sy="100000" kx="0" ky="0" algn="bl" rotWithShape="0" blurRad="177800" dist="38100" dir="5400000">
              <a:srgbClr val="0B1220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818120" y="2377440"/>
            <a:ext cx="457200" cy="457200"/>
          </a:xfrm>
          <a:prstGeom prst="ellipse">
            <a:avLst/>
          </a:prstGeom>
          <a:solidFill>
            <a:srgbClr val="E06666"/>
          </a:solidFill>
          <a:ln/>
          <a:effectLst>
            <a:outerShdw sx="100000" sy="100000" kx="0" ky="0" algn="bl" rotWithShape="0" blurRad="177800" dist="38100" dir="5400000">
              <a:srgbClr val="0B1220">
                <a:alpha val="1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81812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430768" y="240487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Sudden change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430768" y="27432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C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R1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818120" y="324612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C7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consecutive days two or more steps below his own 30-day median.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818120" y="4114800"/>
            <a:ext cx="3291840" cy="0"/>
          </a:xfrm>
          <a:prstGeom prst="line">
            <a:avLst/>
          </a:prstGeom>
          <a:noFill/>
          <a:ln w="12700">
            <a:solidFill>
              <a:srgbClr val="3B54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18120" y="4279392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Sunny did not decide Cody is sad.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noticed a number moved, and told a human.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85800" y="614476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17320"/>
            <a:ext cx="6858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4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“How do you know</a:t>
            </a:r>
            <a:endParaRPr lang="en-US" sz="4400" dirty="0"/>
          </a:p>
          <a:p>
            <a:pPr indent="0" marL="0">
              <a:lnSpc>
                <a:spcPts val="54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child is sad?”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68680" y="365760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C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don't.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68680" y="44348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FB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Sunny says so, on screen, every single time.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955280" y="173736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21304F"/>
          </a:solidFill>
          <a:ln/>
          <a:effectLst>
            <a:outerShdw sx="100000" sy="100000" kx="0" ky="0" algn="bl" rotWithShape="0" blurRad="177800" dist="38100" dir="5400000">
              <a:srgbClr val="0B122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75320" y="20574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C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Sunny actually detects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75320" y="251460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number a child chose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themselves has moved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away from their own normal.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75320" y="3657600"/>
            <a:ext cx="2880360" cy="0"/>
          </a:xfrm>
          <a:prstGeom prst="line">
            <a:avLst/>
          </a:prstGeom>
          <a:noFill/>
          <a:ln w="12700">
            <a:solidFill>
              <a:srgbClr val="3B54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75320" y="38404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9FB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the entire claim.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9FB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about feelings.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9FB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about why.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85800" y="614476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4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every judge asks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signal is produced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85800" y="121615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B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is arithmetic. AI only writes the wording. The two are never mixed.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85800" y="2103120"/>
            <a:ext cx="2542032" cy="2834640"/>
          </a:xfrm>
          <a:prstGeom prst="roundRect">
            <a:avLst>
              <a:gd name="adj" fmla="val 4317"/>
            </a:avLst>
          </a:prstGeom>
          <a:solidFill>
            <a:srgbClr val="F4F7FB"/>
          </a:solidFill>
          <a:ln w="12700">
            <a:solidFill>
              <a:srgbClr val="E2EAF4"/>
            </a:solidFill>
            <a:prstDash val="solid"/>
          </a:ln>
          <a:effectLst>
            <a:outerShdw sx="100000" sy="100000" kx="0" ky="0" algn="bl" rotWithShape="0" blurRad="177800" dist="38100" dir="5400000">
              <a:srgbClr val="0B122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377440"/>
            <a:ext cx="475488" cy="475488"/>
          </a:xfrm>
          <a:prstGeom prst="ellipse">
            <a:avLst/>
          </a:prstGeom>
          <a:solidFill>
            <a:srgbClr val="5B8DEF"/>
          </a:solidFill>
          <a:ln/>
          <a:effectLst>
            <a:outerShdw sx="100000" sy="100000" kx="0" ky="0" algn="bl" rotWithShape="0" blurRad="177800" dist="38100" dir="5400000">
              <a:srgbClr val="0B122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23774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60120" y="299923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3401568"/>
            <a:ext cx="2011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B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numbers from this week, plus this child's own 30-day median.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44988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B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AI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27832" y="320040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9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456432" y="2103120"/>
            <a:ext cx="2542032" cy="2834640"/>
          </a:xfrm>
          <a:prstGeom prst="roundRect">
            <a:avLst>
              <a:gd name="adj" fmla="val 4317"/>
            </a:avLst>
          </a:prstGeom>
          <a:solidFill>
            <a:srgbClr val="F4F7FB"/>
          </a:solidFill>
          <a:ln w="12700">
            <a:solidFill>
              <a:srgbClr val="E2EAF4"/>
            </a:solidFill>
            <a:prstDash val="solid"/>
          </a:ln>
          <a:effectLst>
            <a:outerShdw sx="100000" sy="100000" kx="0" ky="0" algn="bl" rotWithShape="0" blurRad="177800" dist="38100" dir="5400000">
              <a:srgbClr val="0B1220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730752" y="2377440"/>
            <a:ext cx="475488" cy="475488"/>
          </a:xfrm>
          <a:prstGeom prst="ellipse">
            <a:avLst/>
          </a:prstGeom>
          <a:solidFill>
            <a:srgbClr val="21304F"/>
          </a:solidFill>
          <a:ln/>
          <a:effectLst>
            <a:outerShdw sx="100000" sy="100000" kx="0" ky="0" algn="bl" rotWithShape="0" blurRad="177800" dist="38100" dir="5400000">
              <a:srgbClr val="0B1220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730752" y="23774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730752" y="299923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Detection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730752" y="3401568"/>
            <a:ext cx="2011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B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fixed arithmetic rules. Deterministic, reproducible, auditable.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730752" y="44988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B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AI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98464" y="320040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9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227064" y="2103120"/>
            <a:ext cx="2542032" cy="2834640"/>
          </a:xfrm>
          <a:prstGeom prst="roundRect">
            <a:avLst>
              <a:gd name="adj" fmla="val 4317"/>
            </a:avLst>
          </a:prstGeom>
          <a:solidFill>
            <a:srgbClr val="E8F0FE"/>
          </a:solidFill>
          <a:ln w="12700">
            <a:solidFill>
              <a:srgbClr val="FFC24A"/>
            </a:solidFill>
            <a:prstDash val="solid"/>
          </a:ln>
          <a:effectLst>
            <a:outerShdw sx="100000" sy="100000" kx="0" ky="0" algn="bl" rotWithShape="0" blurRad="177800" dist="38100" dir="5400000">
              <a:srgbClr val="0B1220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501384" y="2377440"/>
            <a:ext cx="475488" cy="475488"/>
          </a:xfrm>
          <a:prstGeom prst="ellipse">
            <a:avLst/>
          </a:prstGeom>
          <a:solidFill>
            <a:srgbClr val="FFC24A"/>
          </a:solidFill>
          <a:ln/>
          <a:effectLst>
            <a:outerShdw sx="100000" sy="100000" kx="0" ky="0" algn="bl" rotWithShape="0" blurRad="177800" dist="38100" dir="5400000">
              <a:srgbClr val="0B1220">
                <a:alpha val="1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501384" y="23774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130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501384" y="299923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Wording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501384" y="3401568"/>
            <a:ext cx="2011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B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a fired rule into a plain-English suggestion for the teacher.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501384" y="44988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67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769096" y="320040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9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8997696" y="2103120"/>
            <a:ext cx="2542032" cy="2834640"/>
          </a:xfrm>
          <a:prstGeom prst="roundRect">
            <a:avLst>
              <a:gd name="adj" fmla="val 4317"/>
            </a:avLst>
          </a:prstGeom>
          <a:solidFill>
            <a:srgbClr val="F4F7FB"/>
          </a:solidFill>
          <a:ln w="12700">
            <a:solidFill>
              <a:srgbClr val="E2EAF4"/>
            </a:solidFill>
            <a:prstDash val="solid"/>
          </a:ln>
          <a:effectLst>
            <a:outerShdw sx="100000" sy="100000" kx="0" ky="0" algn="bl" rotWithShape="0" blurRad="177800" dist="38100" dir="5400000">
              <a:srgbClr val="0B1220">
                <a:alpha val="1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272016" y="2377440"/>
            <a:ext cx="475488" cy="475488"/>
          </a:xfrm>
          <a:prstGeom prst="ellipse">
            <a:avLst/>
          </a:prstGeom>
          <a:solidFill>
            <a:srgbClr val="5B8DEF"/>
          </a:solidFill>
          <a:ln/>
          <a:effectLst>
            <a:outerShdw sx="100000" sy="100000" kx="0" ky="0" algn="bl" rotWithShape="0" blurRad="177800" dist="38100" dir="5400000">
              <a:srgbClr val="0B1220">
                <a:alpha val="16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9272016" y="23774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9272016" y="299923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272016" y="3401568"/>
            <a:ext cx="2011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B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teacher decides. Always. Sunny never contacts anyone.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272016" y="44988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B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AI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85800" y="5166360"/>
            <a:ext cx="10789920" cy="777240"/>
          </a:xfrm>
          <a:prstGeom prst="roundRect">
            <a:avLst>
              <a:gd name="adj" fmla="val 14118"/>
            </a:avLst>
          </a:prstGeom>
          <a:solidFill>
            <a:srgbClr val="21304F"/>
          </a:solidFill>
          <a:ln/>
          <a:effectLst>
            <a:outerShdw sx="100000" sy="100000" kx="0" ky="0" algn="bl" rotWithShape="0" blurRad="177800" dist="38100" dir="5400000">
              <a:srgbClr val="0B1220">
                <a:alpha val="16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1005840" y="5166360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C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Remove the AI entirely and Sunny flags exactly the same children.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85800" y="614476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answer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three rules, in full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85800" y="121615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B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Printed here because a parent should be able to check the maths by hand.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85800" y="2103120"/>
            <a:ext cx="1078992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sx="100000" sy="100000" kx="0" ky="0" algn="bl" rotWithShape="0" blurRad="177800" dist="38100" dir="5400000">
              <a:srgbClr val="0B122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249424"/>
            <a:ext cx="566928" cy="566928"/>
          </a:xfrm>
          <a:prstGeom prst="ellipse">
            <a:avLst/>
          </a:prstGeom>
          <a:solidFill>
            <a:srgbClr val="E06666"/>
          </a:solidFill>
          <a:ln/>
          <a:effectLst>
            <a:outerShdw sx="100000" sy="100000" kx="0" ky="0" algn="bl" rotWithShape="0" blurRad="177800" dist="38100" dir="5400000">
              <a:srgbClr val="0B122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224942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783080" y="22219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Sudden change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783080" y="25603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B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2 steps below their own 30-day median, for 2 or more consecutive days.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5800" y="3136392"/>
            <a:ext cx="1078992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sx="100000" sy="100000" kx="0" ky="0" algn="bl" rotWithShape="0" blurRad="177800" dist="38100" dir="5400000">
              <a:srgbClr val="0B122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60120" y="3282696"/>
            <a:ext cx="566928" cy="566928"/>
          </a:xfrm>
          <a:prstGeom prst="ellipse">
            <a:avLst/>
          </a:prstGeom>
          <a:solidFill>
            <a:srgbClr val="E8A13A"/>
          </a:solidFill>
          <a:ln/>
          <a:effectLst>
            <a:outerShdw sx="100000" sy="100000" kx="0" ky="0" algn="bl" rotWithShape="0" blurRad="177800" dist="38100" dir="5400000">
              <a:srgbClr val="0B122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60120" y="32826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783080" y="325526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Sustained drift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783080" y="359359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B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1.5 steps below their own median, for 3 or more consecutive days.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" y="4169664"/>
            <a:ext cx="1078992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sx="100000" sy="100000" kx="0" ky="0" algn="bl" rotWithShape="0" blurRad="177800" dist="38100" dir="5400000">
              <a:srgbClr val="0B1220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60120" y="4315968"/>
            <a:ext cx="566928" cy="566928"/>
          </a:xfrm>
          <a:prstGeom prst="ellipse">
            <a:avLst/>
          </a:prstGeom>
          <a:solidFill>
            <a:srgbClr val="5B8DEF"/>
          </a:solidFill>
          <a:ln/>
          <a:effectLst>
            <a:outerShdw sx="100000" sy="100000" kx="0" ky="0" algn="bl" rotWithShape="0" blurRad="177800" dist="38100" dir="5400000">
              <a:srgbClr val="0B1220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60120" y="43159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783080" y="428853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Repeating cycle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783080" y="4626864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B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weekday at least 1.5 steps below their own median, in 4 of the last 6.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85800" y="5285232"/>
            <a:ext cx="10789920" cy="868680"/>
          </a:xfrm>
          <a:prstGeom prst="roundRect">
            <a:avLst>
              <a:gd name="adj" fmla="val 12632"/>
            </a:avLst>
          </a:prstGeom>
          <a:solidFill>
            <a:srgbClr val="21304F"/>
          </a:solidFill>
          <a:ln/>
          <a:effectLst>
            <a:outerShdw sx="100000" sy="100000" kx="0" ky="0" algn="bl" rotWithShape="0" blurRad="177800" dist="38100" dir="5400000">
              <a:srgbClr val="0B1220">
                <a:alpha val="1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005840" y="5285232"/>
            <a:ext cx="10149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rule compares a child only to themselves — never to a classmate, never to a class average.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85800" y="614476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“okay” day is not a signal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85800" y="121615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B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change from a child's own normal counts. This is the whole design.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85800" y="2057400"/>
            <a:ext cx="5257800" cy="3017520"/>
          </a:xfrm>
          <a:prstGeom prst="roundRect">
            <a:avLst>
              <a:gd name="adj" fmla="val 3636"/>
            </a:avLst>
          </a:prstGeom>
          <a:solidFill>
            <a:srgbClr val="F4F7FB"/>
          </a:solidFill>
          <a:ln w="12700">
            <a:solidFill>
              <a:srgbClr val="E2EAF4"/>
            </a:solidFill>
            <a:prstDash val="solid"/>
          </a:ln>
          <a:effectLst>
            <a:outerShdw sx="100000" sy="100000" kx="0" ky="0" algn="bl" rotWithShape="0" blurRad="177800" dist="38100" dir="5400000">
              <a:srgbClr val="0B122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23957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 checks in “okay” most days</a:t>
            </a:r>
            <a:endParaRPr lang="en-US" sz="1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926080"/>
            <a:ext cx="512064" cy="512064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9928" y="2926080"/>
            <a:ext cx="512064" cy="512064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8296" y="2926080"/>
            <a:ext cx="512064" cy="512064"/>
          </a:xfrm>
          <a:prstGeom prst="rect">
            <a:avLst/>
          </a:prstGeom>
        </p:spPr>
      </p:pic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6664" y="2926080"/>
            <a:ext cx="512064" cy="512064"/>
          </a:xfrm>
          <a:prstGeom prst="rect">
            <a:avLst/>
          </a:prstGeom>
        </p:spPr>
      </p:pic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85032" y="2926080"/>
            <a:ext cx="512064" cy="512064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1051560" y="3657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B2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Never flagged.</a:t>
            </a:r>
            <a:endParaRPr lang="en-US" sz="2000" dirty="0"/>
          </a:p>
        </p:txBody>
      </p:sp>
      <p:sp>
        <p:nvSpPr>
          <p:cNvPr id="12" name="Text 5"/>
          <p:cNvSpPr/>
          <p:nvPr/>
        </p:nvSpPr>
        <p:spPr>
          <a:xfrm>
            <a:off x="1051560" y="406908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B7B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her normal, and normal is not a problem. Sunny has nothing to say about Ana, and says nothing.</a:t>
            </a:r>
            <a:endParaRPr lang="en-US" sz="1300" dirty="0"/>
          </a:p>
        </p:txBody>
      </p:sp>
      <p:sp>
        <p:nvSpPr>
          <p:cNvPr id="13" name="Shape 6"/>
          <p:cNvSpPr/>
          <p:nvPr/>
        </p:nvSpPr>
        <p:spPr>
          <a:xfrm>
            <a:off x="6217920" y="2057400"/>
            <a:ext cx="5257800" cy="3017520"/>
          </a:xfrm>
          <a:prstGeom prst="roundRect">
            <a:avLst>
              <a:gd name="adj" fmla="val 3636"/>
            </a:avLst>
          </a:prstGeom>
          <a:solidFill>
            <a:srgbClr val="F4F7FB"/>
          </a:solidFill>
          <a:ln w="12700">
            <a:solidFill>
              <a:srgbClr val="E2EAF4"/>
            </a:solidFill>
            <a:prstDash val="solid"/>
          </a:ln>
          <a:effectLst>
            <a:outerShdw sx="100000" sy="100000" kx="0" ky="0" algn="bl" rotWithShape="0" blurRad="177800" dist="38100" dir="5400000">
              <a:srgbClr val="0B1220">
                <a:alpha val="16000"/>
              </a:srgbClr>
            </a:outerShdw>
          </a:effectLst>
        </p:spPr>
      </p:sp>
      <p:sp>
        <p:nvSpPr>
          <p:cNvPr id="14" name="Text 7"/>
          <p:cNvSpPr/>
          <p:nvPr/>
        </p:nvSpPr>
        <p:spPr>
          <a:xfrm>
            <a:off x="6583680" y="23957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 checks in “great” most days</a:t>
            </a:r>
            <a:endParaRPr lang="en-US" sz="190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0" y="2926080"/>
            <a:ext cx="512064" cy="512064"/>
          </a:xfrm>
          <a:prstGeom prst="rect">
            <a:avLst/>
          </a:prstGeom>
        </p:spPr>
      </p:pic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42048" y="2926080"/>
            <a:ext cx="512064" cy="512064"/>
          </a:xfrm>
          <a:prstGeom prst="rect">
            <a:avLst/>
          </a:prstGeom>
        </p:spPr>
      </p:pic>
      <p:pic>
        <p:nvPicPr>
          <p:cNvPr id="1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00416" y="2926080"/>
            <a:ext cx="512064" cy="512064"/>
          </a:xfrm>
          <a:prstGeom prst="rect">
            <a:avLst/>
          </a:prstGeom>
        </p:spPr>
      </p:pic>
      <p:pic>
        <p:nvPicPr>
          <p:cNvPr id="1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58784" y="2926080"/>
            <a:ext cx="512064" cy="512064"/>
          </a:xfrm>
          <a:prstGeom prst="rect">
            <a:avLst/>
          </a:prstGeom>
        </p:spPr>
      </p:pic>
      <p:pic>
        <p:nvPicPr>
          <p:cNvPr id="1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17152" y="2926080"/>
            <a:ext cx="512064" cy="512064"/>
          </a:xfrm>
          <a:prstGeom prst="rect">
            <a:avLst/>
          </a:prstGeom>
        </p:spPr>
      </p:pic>
      <p:sp>
        <p:nvSpPr>
          <p:cNvPr id="20" name="Text 8"/>
          <p:cNvSpPr/>
          <p:nvPr/>
        </p:nvSpPr>
        <p:spPr>
          <a:xfrm>
            <a:off x="6583680" y="3657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066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Flagged.</a:t>
            </a:r>
            <a:endParaRPr lang="en-US" sz="2000" dirty="0"/>
          </a:p>
        </p:txBody>
      </p:sp>
      <p:sp>
        <p:nvSpPr>
          <p:cNvPr id="21" name="Text 9"/>
          <p:cNvSpPr/>
          <p:nvPr/>
        </p:nvSpPr>
        <p:spPr>
          <a:xfrm>
            <a:off x="6583680" y="406908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B7B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two “not good” days as Ana — but for Ben they are a departure. Change is the signal, not the level.</a:t>
            </a:r>
            <a:endParaRPr lang="en-US" sz="1300" dirty="0"/>
          </a:p>
        </p:txBody>
      </p:sp>
      <p:sp>
        <p:nvSpPr>
          <p:cNvPr id="22" name="Shape 10"/>
          <p:cNvSpPr/>
          <p:nvPr/>
        </p:nvSpPr>
        <p:spPr>
          <a:xfrm>
            <a:off x="685800" y="5285232"/>
            <a:ext cx="10789920" cy="868680"/>
          </a:xfrm>
          <a:prstGeom prst="roundRect">
            <a:avLst>
              <a:gd name="adj" fmla="val 12632"/>
            </a:avLst>
          </a:prstGeom>
          <a:solidFill>
            <a:srgbClr val="E8F0FE"/>
          </a:solidFill>
          <a:ln w="12700">
            <a:solidFill>
              <a:srgbClr val="FFC24A"/>
            </a:solidFill>
            <a:prstDash val="solid"/>
          </a:ln>
          <a:effectLst>
            <a:outerShdw sx="100000" sy="100000" kx="0" ky="0" algn="bl" rotWithShape="0" blurRad="177800" dist="38100" dir="5400000">
              <a:srgbClr val="0B1220">
                <a:alpha val="16000"/>
              </a:srgbClr>
            </a:outerShdw>
          </a:effectLst>
        </p:spPr>
      </p:sp>
      <p:sp>
        <p:nvSpPr>
          <p:cNvPr id="23" name="Text 11"/>
          <p:cNvSpPr/>
          <p:nvPr/>
        </p:nvSpPr>
        <p:spPr>
          <a:xfrm>
            <a:off x="1005840" y="5285232"/>
            <a:ext cx="10149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30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protects quiet and neurodivergent kids from being flagged for simply being themselves.</a:t>
            </a:r>
            <a:endParaRPr lang="en-US" sz="1700" dirty="0"/>
          </a:p>
        </p:txBody>
      </p:sp>
      <p:sp>
        <p:nvSpPr>
          <p:cNvPr id="24" name="Text 12"/>
          <p:cNvSpPr/>
          <p:nvPr/>
        </p:nvSpPr>
        <p:spPr>
          <a:xfrm>
            <a:off x="685800" y="614476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Inclusion by design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Sunny never does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85800" y="121615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list a principal will ask for before signing anything.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85800" y="2103120"/>
            <a:ext cx="5257800" cy="777240"/>
          </a:xfrm>
          <a:prstGeom prst="roundRect">
            <a:avLst>
              <a:gd name="adj" fmla="val 14118"/>
            </a:avLst>
          </a:prstGeom>
          <a:solidFill>
            <a:srgbClr val="21304F"/>
          </a:solidFill>
          <a:ln/>
          <a:effectLst>
            <a:outerShdw sx="100000" sy="100000" kx="0" ky="0" algn="bl" rotWithShape="0" blurRad="177800" dist="38100" dir="5400000">
              <a:srgbClr val="0B122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41832" y="2258568"/>
            <a:ext cx="457200" cy="457200"/>
          </a:xfrm>
          <a:prstGeom prst="ellipse">
            <a:avLst/>
          </a:prstGeom>
          <a:solidFill>
            <a:srgbClr val="3A2233"/>
          </a:solidFill>
          <a:ln/>
          <a:effectLst>
            <a:outerShdw sx="100000" sy="100000" kx="0" ky="0" algn="bl" rotWithShape="0" blurRad="177800" dist="38100" dir="5400000">
              <a:srgbClr val="0B122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41832" y="2258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066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54480" y="210312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7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Diagnose, or suggest any clinical or developmental label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17920" y="2103120"/>
            <a:ext cx="5257800" cy="777240"/>
          </a:xfrm>
          <a:prstGeom prst="roundRect">
            <a:avLst>
              <a:gd name="adj" fmla="val 14118"/>
            </a:avLst>
          </a:prstGeom>
          <a:solidFill>
            <a:srgbClr val="21304F"/>
          </a:solidFill>
          <a:ln/>
          <a:effectLst>
            <a:outerShdw sx="100000" sy="100000" kx="0" ky="0" algn="bl" rotWithShape="0" blurRad="177800" dist="38100" dir="5400000">
              <a:srgbClr val="0B122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73952" y="2258568"/>
            <a:ext cx="457200" cy="457200"/>
          </a:xfrm>
          <a:prstGeom prst="ellipse">
            <a:avLst/>
          </a:prstGeom>
          <a:solidFill>
            <a:srgbClr val="3A2233"/>
          </a:solidFill>
          <a:ln/>
          <a:effectLst>
            <a:outerShdw sx="100000" sy="100000" kx="0" ky="0" algn="bl" rotWithShape="0" blurRad="177800" dist="38100" dir="5400000">
              <a:srgbClr val="0B1220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73952" y="2258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066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086600" y="210312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7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children against each other, or against a class average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85800" y="3044952"/>
            <a:ext cx="5257800" cy="777240"/>
          </a:xfrm>
          <a:prstGeom prst="roundRect">
            <a:avLst>
              <a:gd name="adj" fmla="val 14118"/>
            </a:avLst>
          </a:prstGeom>
          <a:solidFill>
            <a:srgbClr val="21304F"/>
          </a:solidFill>
          <a:ln/>
          <a:effectLst>
            <a:outerShdw sx="100000" sy="100000" kx="0" ky="0" algn="bl" rotWithShape="0" blurRad="177800" dist="38100" dir="5400000">
              <a:srgbClr val="0B1220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41832" y="3200400"/>
            <a:ext cx="457200" cy="457200"/>
          </a:xfrm>
          <a:prstGeom prst="ellipse">
            <a:avLst/>
          </a:prstGeom>
          <a:solidFill>
            <a:srgbClr val="3A2233"/>
          </a:solidFill>
          <a:ln/>
          <a:effectLst>
            <a:outerShdw sx="100000" sy="100000" kx="0" ky="0" algn="bl" rotWithShape="0" blurRad="177800" dist="38100" dir="5400000">
              <a:srgbClr val="0B1220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41832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066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554480" y="3044952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7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to know why a child feels something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17920" y="3044952"/>
            <a:ext cx="5257800" cy="777240"/>
          </a:xfrm>
          <a:prstGeom prst="roundRect">
            <a:avLst>
              <a:gd name="adj" fmla="val 14118"/>
            </a:avLst>
          </a:prstGeom>
          <a:solidFill>
            <a:srgbClr val="21304F"/>
          </a:solidFill>
          <a:ln/>
          <a:effectLst>
            <a:outerShdw sx="100000" sy="100000" kx="0" ky="0" algn="bl" rotWithShape="0" blurRad="177800" dist="38100" dir="5400000">
              <a:srgbClr val="0B1220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73952" y="3200400"/>
            <a:ext cx="457200" cy="457200"/>
          </a:xfrm>
          <a:prstGeom prst="ellipse">
            <a:avLst/>
          </a:prstGeom>
          <a:solidFill>
            <a:srgbClr val="3A2233"/>
          </a:solidFill>
          <a:ln/>
          <a:effectLst>
            <a:outerShdw sx="100000" sy="100000" kx="0" ky="0" algn="bl" rotWithShape="0" blurRad="177800" dist="38100" dir="5400000">
              <a:srgbClr val="0B1220">
                <a:alpha val="1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73952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066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086600" y="3044952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7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 parents or counsellors automatically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85800" y="3986784"/>
            <a:ext cx="5257800" cy="777240"/>
          </a:xfrm>
          <a:prstGeom prst="roundRect">
            <a:avLst>
              <a:gd name="adj" fmla="val 14118"/>
            </a:avLst>
          </a:prstGeom>
          <a:solidFill>
            <a:srgbClr val="21304F"/>
          </a:solidFill>
          <a:ln/>
          <a:effectLst>
            <a:outerShdw sx="100000" sy="100000" kx="0" ky="0" algn="bl" rotWithShape="0" blurRad="177800" dist="38100" dir="5400000">
              <a:srgbClr val="0B1220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41832" y="4142232"/>
            <a:ext cx="457200" cy="457200"/>
          </a:xfrm>
          <a:prstGeom prst="ellipse">
            <a:avLst/>
          </a:prstGeom>
          <a:solidFill>
            <a:srgbClr val="3A2233"/>
          </a:solidFill>
          <a:ln/>
          <a:effectLst>
            <a:outerShdw sx="100000" sy="100000" kx="0" ky="0" algn="bl" rotWithShape="0" blurRad="177800" dist="38100" dir="5400000">
              <a:srgbClr val="0B1220">
                <a:alpha val="1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41832" y="4142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066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554480" y="3986784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7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any model on children's data, or share it with a third party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217920" y="3986784"/>
            <a:ext cx="5257800" cy="777240"/>
          </a:xfrm>
          <a:prstGeom prst="roundRect">
            <a:avLst>
              <a:gd name="adj" fmla="val 14118"/>
            </a:avLst>
          </a:prstGeom>
          <a:solidFill>
            <a:srgbClr val="21304F"/>
          </a:solidFill>
          <a:ln/>
          <a:effectLst>
            <a:outerShdw sx="100000" sy="100000" kx="0" ky="0" algn="bl" rotWithShape="0" blurRad="177800" dist="38100" dir="5400000">
              <a:srgbClr val="0B1220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73952" y="4142232"/>
            <a:ext cx="457200" cy="457200"/>
          </a:xfrm>
          <a:prstGeom prst="ellipse">
            <a:avLst/>
          </a:prstGeom>
          <a:solidFill>
            <a:srgbClr val="3A2233"/>
          </a:solidFill>
          <a:ln/>
          <a:effectLst>
            <a:outerShdw sx="100000" sy="100000" kx="0" ky="0" algn="bl" rotWithShape="0" blurRad="177800" dist="38100" dir="5400000">
              <a:srgbClr val="0B1220">
                <a:alpha val="16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73952" y="4142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066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086600" y="3986784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7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raw check-ins beyond 30 days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85800" y="523036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C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tap. No free text, no camera, no microphone, no behavioural tracking.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685800" y="56692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teacher can dismiss any signal. We keep dismissals so we can publish an honest false-positive rate.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85800" y="614476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4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Safeguarding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goes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85800" y="121615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B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today, honest about tomorrow.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85800" y="2103120"/>
            <a:ext cx="3401568" cy="3063240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sx="100000" sy="100000" kx="0" ky="0" algn="bl" rotWithShape="0" blurRad="177800" dist="38100" dir="5400000">
              <a:srgbClr val="0B122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395728"/>
            <a:ext cx="530352" cy="530352"/>
          </a:xfrm>
          <a:prstGeom prst="ellipse">
            <a:avLst/>
          </a:prstGeom>
          <a:solidFill>
            <a:srgbClr val="3BB27A"/>
          </a:solidFill>
          <a:ln/>
          <a:effectLst>
            <a:outerShdw sx="100000" sy="100000" kx="0" ky="0" algn="bl" rotWithShape="0" blurRad="177800" dist="38100" dir="5400000">
              <a:srgbClr val="0B122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239572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691640" y="243230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Level 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691640" y="27432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B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3246120"/>
            <a:ext cx="2788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6B7B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prototype. Both views, all three rules, full transparency panel. Runs anywhere, no install.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005840" y="4645152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B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70832" y="2103120"/>
            <a:ext cx="3401568" cy="3063240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sx="100000" sy="100000" kx="0" ky="0" algn="bl" rotWithShape="0" blurRad="177800" dist="38100" dir="5400000">
              <a:srgbClr val="0B1220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90872" y="2395728"/>
            <a:ext cx="530352" cy="530352"/>
          </a:xfrm>
          <a:prstGeom prst="ellipse">
            <a:avLst/>
          </a:prstGeom>
          <a:solidFill>
            <a:srgbClr val="FFC24A"/>
          </a:solidFill>
          <a:ln/>
          <a:effectLst>
            <a:outerShdw sx="100000" sy="100000" kx="0" ky="0" algn="bl" rotWithShape="0" blurRad="177800" dist="38100" dir="5400000">
              <a:srgbClr val="0B1220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90872" y="239572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130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376672" y="243230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Level 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376672" y="27432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B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90872" y="3246120"/>
            <a:ext cx="2788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6B7B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check-in storage, live Claude API for wording, teacher login. One school, one term, measured.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690872" y="4645152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C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term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055864" y="2103120"/>
            <a:ext cx="3401568" cy="3063240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sx="100000" sy="100000" kx="0" ky="0" algn="bl" rotWithShape="0" blurRad="177800" dist="38100" dir="5400000">
              <a:srgbClr val="0B1220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375904" y="2395728"/>
            <a:ext cx="530352" cy="530352"/>
          </a:xfrm>
          <a:prstGeom prst="ellipse">
            <a:avLst/>
          </a:prstGeom>
          <a:solidFill>
            <a:srgbClr val="5B8DEF"/>
          </a:solidFill>
          <a:ln/>
          <a:effectLst>
            <a:outerShdw sx="100000" sy="100000" kx="0" ky="0" algn="bl" rotWithShape="0" blurRad="177800" dist="38100" dir="5400000">
              <a:srgbClr val="0B1220">
                <a:alpha val="1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375904" y="239572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9061704" y="243230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Level 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061704" y="27432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B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375904" y="3246120"/>
            <a:ext cx="2788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6B7B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accounts, privacy and safeguarding compliance, escalation routing to counsellors.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375904" y="4645152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85800" y="5394960"/>
            <a:ext cx="10789920" cy="731520"/>
          </a:xfrm>
          <a:prstGeom prst="roundRect">
            <a:avLst>
              <a:gd name="adj" fmla="val 15000"/>
            </a:avLst>
          </a:prstGeom>
          <a:solidFill>
            <a:srgbClr val="21304F"/>
          </a:solidFill>
          <a:ln/>
          <a:effectLst>
            <a:outerShdw sx="100000" sy="100000" kx="0" ky="0" algn="bl" rotWithShape="0" blurRad="177800" dist="38100" dir="5400000">
              <a:srgbClr val="0B1220">
                <a:alpha val="16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005840" y="5394960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Detection stays rule-based at every level. Scaling adds reach, never opacity.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85800" y="614476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pays, and why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85800" y="121615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B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 into wellbeing and pastoral care budgets — not IT budgets.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85800" y="2103120"/>
            <a:ext cx="10789920" cy="804672"/>
          </a:xfrm>
          <a:prstGeom prst="roundRect">
            <a:avLst>
              <a:gd name="adj" fmla="val 13636"/>
            </a:avLst>
          </a:prstGeom>
          <a:solidFill>
            <a:srgbClr val="F4F7FB"/>
          </a:solidFill>
          <a:ln w="12700">
            <a:solidFill>
              <a:srgbClr val="E2EAF4"/>
            </a:solidFill>
            <a:prstDash val="solid"/>
          </a:ln>
          <a:effectLst>
            <a:outerShdw sx="100000" sy="100000" kx="0" ky="0" algn="bl" rotWithShape="0" blurRad="177800" dist="38100" dir="5400000">
              <a:srgbClr val="0B122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2103120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8D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Buyer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880360" y="2103120"/>
            <a:ext cx="8321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B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wellbeing lead or principal, not the IT department. This is a pastoral tool that happens to be software.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" y="3063240"/>
            <a:ext cx="10789920" cy="804672"/>
          </a:xfrm>
          <a:prstGeom prst="roundRect">
            <a:avLst>
              <a:gd name="adj" fmla="val 13636"/>
            </a:avLst>
          </a:prstGeom>
          <a:solidFill>
            <a:srgbClr val="F4F7FB"/>
          </a:solidFill>
          <a:ln w="12700">
            <a:solidFill>
              <a:srgbClr val="E2EAF4"/>
            </a:solidFill>
            <a:prstDash val="solid"/>
          </a:ln>
          <a:effectLst>
            <a:outerShdw sx="100000" sy="100000" kx="0" ky="0" algn="bl" rotWithShape="0" blurRad="177800" dist="38100" dir="5400000">
              <a:srgbClr val="0B122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51560" y="3063240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8D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880360" y="3063240"/>
            <a:ext cx="8321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B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Per-classroom annual licence, priced so a single school can start with one class and expand.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4023360"/>
            <a:ext cx="10789920" cy="804672"/>
          </a:xfrm>
          <a:prstGeom prst="roundRect">
            <a:avLst>
              <a:gd name="adj" fmla="val 13636"/>
            </a:avLst>
          </a:prstGeom>
          <a:solidFill>
            <a:srgbClr val="F4F7FB"/>
          </a:solidFill>
          <a:ln w="12700">
            <a:solidFill>
              <a:srgbClr val="E2EAF4"/>
            </a:solidFill>
            <a:prstDash val="solid"/>
          </a:ln>
          <a:effectLst>
            <a:outerShdw sx="100000" sy="100000" kx="0" ky="0" algn="bl" rotWithShape="0" blurRad="177800" dist="38100" dir="5400000">
              <a:srgbClr val="0B122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51560" y="4023360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8D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now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880360" y="4023360"/>
            <a:ext cx="8321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B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Schools are under real pressure on student wellbeing, and are rightly wary of AI that makes claims about children.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5800" y="4983480"/>
            <a:ext cx="10789920" cy="804672"/>
          </a:xfrm>
          <a:prstGeom prst="roundRect">
            <a:avLst>
              <a:gd name="adj" fmla="val 13636"/>
            </a:avLst>
          </a:prstGeom>
          <a:solidFill>
            <a:srgbClr val="E8F0FE"/>
          </a:solidFill>
          <a:ln w="12700">
            <a:solidFill>
              <a:srgbClr val="FFC24A"/>
            </a:solidFill>
            <a:prstDash val="solid"/>
          </a:ln>
          <a:effectLst>
            <a:outerShdw sx="100000" sy="100000" kx="0" ky="0" algn="bl" rotWithShape="0" blurRad="177800" dist="38100" dir="5400000">
              <a:srgbClr val="0B1220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51560" y="4983480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30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wedge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880360" y="4983480"/>
            <a:ext cx="8321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the option a school can actually defend to parents — because the detection is auditable arithmetic.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5800" y="59436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B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 angle: better early support costs a school far less — in staff time and in outcomes — than late intervention.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5800" y="614476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4206240"/>
            <a:ext cx="2011680" cy="2011680"/>
          </a:xfrm>
          <a:prstGeom prst="ellipse">
            <a:avLst/>
          </a:prstGeom>
          <a:solidFill>
            <a:srgbClr val="FFC24A"/>
          </a:solidFill>
          <a:ln/>
          <a:effectLst>
            <a:outerShdw sx="100000" sy="100000" kx="0" ky="0" algn="bl" rotWithShape="0" blurRad="177800" dist="38100" dir="5400000">
              <a:srgbClr val="0B1220">
                <a:alpha val="16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9235440" y="3931920"/>
            <a:ext cx="2560320" cy="2560320"/>
          </a:xfrm>
          <a:prstGeom prst="ellipse">
            <a:avLst/>
          </a:prstGeom>
          <a:solidFill>
            <a:srgbClr val="FFC24A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2024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Sunny didn't diagnose Cody.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68680" y="288036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2600" dirty="0">
                <a:solidFill>
                  <a:srgbClr val="FFC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did arithmetic on five numbers,</a:t>
            </a:r>
            <a:endParaRPr lang="en-US" sz="26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2600" dirty="0">
                <a:solidFill>
                  <a:srgbClr val="FFC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showed its working,</a:t>
            </a:r>
            <a:endParaRPr lang="en-US" sz="26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2600" dirty="0">
                <a:solidFill>
                  <a:srgbClr val="FFC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made sure a caring adult noticed.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68680" y="470916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B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the only kind of AI a school should ever point at a child.</a:t>
            </a:r>
            <a:endParaRPr lang="en-US" sz="16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5394960"/>
            <a:ext cx="457200" cy="457200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5608" y="5394960"/>
            <a:ext cx="457200" cy="457200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2536" y="5394960"/>
            <a:ext cx="457200" cy="457200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9464" y="5394960"/>
            <a:ext cx="457200" cy="457200"/>
          </a:xfrm>
          <a:prstGeom prst="rect">
            <a:avLst/>
          </a:prstGeom>
        </p:spPr>
      </p:pic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36392" y="5394960"/>
            <a:ext cx="457200" cy="45720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685800" y="614476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4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Sunny  ·  Classroom Mood Check-in  ·  ICL Hackathon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2026-07-27T22:47:12Z</dcterms:created>
  <dcterms:modified xsi:type="dcterms:W3CDTF">2026-07-27T22:47:12Z</dcterms:modified>
</cp:coreProperties>
</file>